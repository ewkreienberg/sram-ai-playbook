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194560"/>
            <a:ext cx="109728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37744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40"/>
              </a:spcAft>
              <a:defRPr sz="4400" b="1">
                <a:solidFill>
                  <a:srgbClr val="1C1C1E"/>
                </a:solidFill>
                <a:latin typeface="Calibri"/>
              </a:defRPr>
            </a:pPr>
            <a:r>
              <a:t>SRAM LLC</a:t>
            </a:r>
          </a:p>
          <a:p>
            <a:pPr>
              <a:spcAft>
                <a:spcPts val="1560"/>
              </a:spcAft>
              <a:defRPr sz="2600" b="0">
                <a:solidFill>
                  <a:srgbClr val="767676"/>
                </a:solidFill>
                <a:latin typeface="Calibri"/>
              </a:defRPr>
            </a:pPr>
            <a:r>
              <a:t>AI Adoption Playbook</a:t>
            </a:r>
          </a:p>
          <a:p>
            <a:pPr>
              <a:spcAft>
                <a:spcPts val="600"/>
              </a:spcAft>
              <a:defRPr sz="10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A3A3C"/>
                </a:solidFill>
                <a:latin typeface="Calibri"/>
              </a:defRPr>
            </a:pPr>
            <a:r>
              <a:t>A $10M opportunity starting with a 90-day pilot</a:t>
            </a:r>
          </a:p>
          <a:p>
            <a:pPr>
              <a:spcAft>
                <a:spcPts val="480"/>
              </a:spcAft>
              <a:defRPr sz="8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 b="0">
                <a:solidFill>
                  <a:srgbClr val="767676"/>
                </a:solidFill>
                <a:latin typeface="Calibri"/>
              </a:defRPr>
            </a:pPr>
            <a:r>
              <a:t>Prepared for Executive Leadership  |  March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760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AIML 950  |  Human and Machine Intelligence  |  Northwestern Kellogg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SRAM's connected ecosystem is unmatched in cycling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REVENUE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$1B+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Private, Chicago-founded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39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9039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Integrated portfolio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59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MTB SHARE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#1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Market leader globally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Support-driven churn risk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SRAM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Drivetrains + Braking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2441448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606039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199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RockShox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199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Suspension</a:t>
            </a:r>
          </a:p>
        </p:txBody>
      </p:sp>
      <p:sp>
        <p:nvSpPr>
          <p:cNvPr id="28" name="Isosceles Triangle 27"/>
          <p:cNvSpPr/>
          <p:nvPr/>
        </p:nvSpPr>
        <p:spPr>
          <a:xfrm rot="5400000">
            <a:off x="4315967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480559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17719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Zipp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19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Wheels + Cockpit</a:t>
            </a:r>
          </a:p>
        </p:txBody>
      </p:sp>
      <p:sp>
        <p:nvSpPr>
          <p:cNvPr id="32" name="Isosceles Triangle 31"/>
          <p:cNvSpPr/>
          <p:nvPr/>
        </p:nvSpPr>
        <p:spPr>
          <a:xfrm rot="5400000">
            <a:off x="6190487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355079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39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Quarq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39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Power Meters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8065007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229600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66760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Hammerhead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6760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Cycling Computer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9939528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104120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41280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TIME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0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Pedals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" y="4114800"/>
            <a:ext cx="11064240" cy="320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4133087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AXS Wireless Ecosystem  |  All connected, all generating data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" y="4846320"/>
            <a:ext cx="110642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31520" y="4846320"/>
            <a:ext cx="50800" cy="7772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51560" y="49377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“A Shimano rider uses the app to check compatibility. A Hammerhead rider uses it to train, navigate, and communicate with their component stack. That is a fundamentally different data relationship.”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534924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AI opportunities exist across every function at SRAM.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498348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1208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49834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5212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5486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49834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5212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49834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5212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5486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AI opportunities exist across every function at SRAM.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4069080"/>
            <a:ext cx="50800" cy="822960"/>
          </a:xfrm>
          <a:prstGeom prst="rect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29768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6D2E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40690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42976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45720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40690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42976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45720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40690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42976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45720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98348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21208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49834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5212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5486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49834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40680" y="5212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5486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49834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5212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5486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AI opportunities exist across every function at SRAM.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154680"/>
            <a:ext cx="50800" cy="822960"/>
          </a:xfrm>
          <a:prstGeom prst="rect">
            <a:avLst/>
          </a:prstGeom>
          <a:solidFill>
            <a:srgbClr val="5B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38328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5B8C5A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31546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3383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Demand Forecasting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36576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forecasting system exists today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31546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3383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Inventory Allocation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36576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Stockouts and rush shipping losses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31546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3383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Customer Analytics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36576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Shopify data is siloed, unused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069080"/>
            <a:ext cx="50800" cy="822960"/>
          </a:xfrm>
          <a:prstGeom prst="rect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29768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6D2E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40690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42976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45720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40690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40680" y="42976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45720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40690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42976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45720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98348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21208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194560" y="49834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77440" y="5212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5486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257800" y="49834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40680" y="5212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40680" y="5486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21040" y="49834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03920" y="5212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0" y="5486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Start where domain knowledge is high and outcomes are measurable. Support is the proving ground for everything that follows.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D5F8A"/>
                </a:solidFill>
                <a:latin typeface="Calibri"/>
              </a:defRPr>
            </a:pPr>
            <a:r>
              <a:t>SUPPORT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94560" y="1920240"/>
            <a:ext cx="50800" cy="82296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7440" y="1993392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RECOMMENDED 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 Support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70% of dealer questions are repetitive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Warranty Automation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Fraudulent and mis-filed claims cost time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Compatibility Assistant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Riders get wrong parts, return them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3154680"/>
            <a:ext cx="50800" cy="822960"/>
          </a:xfrm>
          <a:prstGeom prst="rect">
            <a:avLst/>
          </a:prstGeom>
          <a:solidFill>
            <a:srgbClr val="5B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338328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5B8C5A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94560" y="31546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77440" y="3383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Demand Forecasting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77440" y="36576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forecasting system exists today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257800" y="31546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40680" y="3383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Inventory Allocation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40680" y="36576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Stockouts and rush shipping losses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21040" y="31546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03920" y="3383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Customer Analytics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576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Shopify data is siloed, unused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4069080"/>
            <a:ext cx="50800" cy="822960"/>
          </a:xfrm>
          <a:prstGeom prst="rect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429768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6D2E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194560" y="40690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77440" y="42976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77440" y="45720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257800" y="40690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40680" y="42976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40680" y="45720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21040" y="40690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03920" y="42976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03920" y="45720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498348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" y="521208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194560" y="49834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77440" y="5212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40" y="5486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257800" y="49834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40680" y="5212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40680" y="5486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321040" y="49834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03920" y="5212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20" y="5486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94360" y="1847088"/>
            <a:ext cx="10927080" cy="969264"/>
          </a:xfrm>
          <a:prstGeom prst="rect">
            <a:avLst/>
          </a:prstGeom>
          <a:noFill/>
          <a:ln w="31750">
            <a:solidFill>
              <a:srgbClr val="2D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784080" y="162763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i="0">
                <a:solidFill>
                  <a:srgbClr val="2D5F8A"/>
                </a:solidFill>
                <a:latin typeface="Calibri"/>
              </a:defRPr>
            </a:pPr>
            <a:r>
              <a:t>START HERE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Support quality drives churn, not product quality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Riders love SRAM hardware. They struggle with firmware, compatibility, and warranty resolution.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 RATING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Warranty friction and support delays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AUTOMATABLE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~70%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Questions follow documented patterns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TOP COMPLAINTS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Firmware + Pairing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Reddit, app stores, Trustpilot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Support quality drives churn, not product quality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Riders love SRAM hardware. They struggle with firmware, compatibility, and warranty resolution.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 RATING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Warranty friction and support delays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AUTOMATABLE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~70%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Questions follow documented patterns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TOP COMPLAINTS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Firmware + Pairing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Reddit, app stores, Trustpilot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389120"/>
            <a:ext cx="1078992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4389120"/>
            <a:ext cx="50800" cy="7772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48056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“The first question I ask anyone skeptical about AI is: do you want to spend your day searching a 200-page compatibility PDF, or do you want to spend it talking to dealers?”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89204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A 90-day pilot with human approval on every response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TICKET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Dealer or rider</a:t>
            </a:r>
            <a:br/>
            <a:r>
              <a:t>submits via Zendesk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271576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7180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0896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AI RETRIEVES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Amazon Kendra</a:t>
            </a:r>
            <a:br/>
            <a:r>
              <a:t>finds approved docs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495604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4924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AI DRAFTS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Amazon Bedrock</a:t>
            </a:r>
            <a:br/>
            <a:r>
              <a:t>from knowledge base</a:t>
            </a:r>
          </a:p>
        </p:txBody>
      </p:sp>
      <p:sp>
        <p:nvSpPr>
          <p:cNvPr id="19" name="Isosceles Triangle 18"/>
          <p:cNvSpPr/>
          <p:nvPr/>
        </p:nvSpPr>
        <p:spPr>
          <a:xfrm rot="5400000">
            <a:off x="719632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5236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8952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HUMAN REVIEWS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Agent approves</a:t>
            </a:r>
            <a:br/>
            <a:r>
              <a:t>before sending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943660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9264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980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QUALITY LOGGED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Metrics tracked;</a:t>
            </a:r>
            <a:br/>
            <a:r>
              <a:t>weekly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A 90-day pilot with human approval on every response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TICKET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Dealer or rider</a:t>
            </a:r>
            <a:br/>
            <a:r>
              <a:t>submits via Zendesk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271576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7180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0896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AI RETRIEVES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Amazon Kendra</a:t>
            </a:r>
            <a:br/>
            <a:r>
              <a:t>finds approved docs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495604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4924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AI DRAFTS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Amazon Bedrock</a:t>
            </a:r>
            <a:br/>
            <a:r>
              <a:t>from knowledge base</a:t>
            </a:r>
          </a:p>
        </p:txBody>
      </p:sp>
      <p:sp>
        <p:nvSpPr>
          <p:cNvPr id="19" name="Isosceles Triangle 18"/>
          <p:cNvSpPr/>
          <p:nvPr/>
        </p:nvSpPr>
        <p:spPr>
          <a:xfrm rot="5400000">
            <a:off x="719632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5236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8952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HUMAN REVIEWS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Agent approves</a:t>
            </a:r>
            <a:br/>
            <a:r>
              <a:t>before sending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943660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9264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980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QUALITY LOGGED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Metrics tracked;</a:t>
            </a:r>
            <a:br/>
            <a:r>
              <a:t>weekly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206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AXS + Hammerhead support only  |  Human approval on every response  |  Weekly quality review with rollback trigger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029200"/>
            <a:ext cx="1078992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1520" y="5029200"/>
            <a:ext cx="50800" cy="50292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5120640"/>
            <a:ext cx="102412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“I would rather shut it down and restart than defend a mistake to Ken.”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25780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 on the pull-the-plug criteria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71576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79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Resolve more 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3756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349300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4564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AI draft acceptance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429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&gt;70%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520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Below 50% at day 45 triggers scope review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" y="427024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2336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Increase agent throughput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2062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+25%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4297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Tickets handled per agent per day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89204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05840" y="504748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5010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Hold customer satisfaction flat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49834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No decline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5074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Any sustained drop triggers rollback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8521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767676"/>
                </a:solidFill>
                <a:latin typeface="Calibri"/>
              </a:defRPr>
            </a:pPr>
            <a:r>
              <a:t>Kill criteria: 2 weeks quality drop, any safety error reaching a dealer, or dealer opt-out above 15%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90-day pilot mapped to SMART goals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4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92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84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92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Setup + Integration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609344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1609344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Zendesk + Kendra + Bedrock integration; baseline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9476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Knowledge Base Indexing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1956816"/>
            <a:ext cx="181356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2249424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29514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(AXS)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29514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71160" y="2304288"/>
            <a:ext cx="336804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62600" y="2304288"/>
            <a:ext cx="3185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AI drafts responses; agents review 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64261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(Hammerhead)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64261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0" y="2651760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2651760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Expand to Hammerhead device tickets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2944368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99008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Response Time Tracking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299008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3000" y="2999232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4440" y="2999232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SLA baseline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33756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Escalation Rate Tracking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33375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53000" y="3346704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4440" y="3346704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baseline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3639312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68503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Throughput Measurement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08960" y="368503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8400" y="3694176"/>
            <a:ext cx="51816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39840" y="3694176"/>
            <a:ext cx="499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Tickets/agent/day tracked weekly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03250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CSAT Monitoring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403250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G5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53000" y="4041648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44440" y="4041648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No decline for 2 consecutive periods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1520" y="4334256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437997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Weekly Quality Reviews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53000" y="4389120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4440" y="4389120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Rollback trigger if quality drops 2 weeks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472744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Day-45 Checkpoint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43800" y="4736592"/>
            <a:ext cx="388620" cy="219456"/>
          </a:xfrm>
          <a:prstGeom prst="roundRect">
            <a:avLst>
              <a:gd name="adj" fmla="val 15000"/>
            </a:avLst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31520" y="502920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507492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Day-90 Go/No-Go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041380" y="5084064"/>
            <a:ext cx="388620" cy="219456"/>
          </a:xfrm>
          <a:prstGeom prst="roundRect">
            <a:avLst>
              <a:gd name="adj" fmla="val 15000"/>
            </a:avLst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" y="55778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Day-45 checkpoint: scope review if draft acceptance &lt; 50%  |  Day-90: go / no-go decision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RETURN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$10.2M net value in Year 1 on $2.7M spend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Scenario Range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21031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C1C1E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148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767676"/>
                </a:solidFill>
                <a:latin typeface="Calibri"/>
              </a:defRPr>
            </a:pPr>
            <a:r>
              <a:t>2.8x ROI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34640"/>
            <a:ext cx="5029200" cy="731520"/>
          </a:xfrm>
          <a:prstGeom prst="roundRect">
            <a:avLst>
              <a:gd name="adj" fmla="val 2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Expected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9260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971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767676"/>
                </a:solidFill>
                <a:latin typeface="Calibri"/>
              </a:defRPr>
            </a:pPr>
            <a:r>
              <a:t>3.8x ROI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490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Upside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7490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C1C1E"/>
                </a:solidFill>
                <a:latin typeface="Calibri"/>
              </a:defRPr>
            </a:pPr>
            <a:r>
              <a:t>$22.5M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7947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767676"/>
                </a:solidFill>
                <a:latin typeface="Calibri"/>
              </a:defRPr>
            </a:pPr>
            <a:r>
              <a:t>6.4x ROI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Year-1 Financial Impact (All Phases)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737360"/>
            <a:ext cx="256032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18745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21031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5603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Expected case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1737360"/>
            <a:ext cx="256032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18745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21031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25603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On $2.7M total spend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017520"/>
            <a:ext cx="5029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1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Cost Reductions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Support automation savings: $1.6M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Demand forecasting savings: $1.6M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Documentation and translation: $0.24M</a:t>
            </a:r>
          </a:p>
          <a:p>
            <a:pPr>
              <a:spcAft>
                <a:spcPts val="199"/>
              </a:spcAft>
              <a:defRPr sz="5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51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Revenue Growth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Customer retention: $3.0M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Package size increase: $4.0M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Proposal win rate: $2.5M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5303520"/>
            <a:ext cx="5303520" cy="7772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53492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59"/>
              </a:spcAft>
              <a:defRPr sz="1200" b="1">
                <a:solidFill>
                  <a:srgbClr val="1C1C1E"/>
                </a:solidFill>
                <a:latin typeface="Calibri"/>
              </a:defRPr>
            </a:pPr>
            <a:r>
              <a:t>Gross value: $12.9M</a:t>
            </a:r>
          </a:p>
          <a:p>
            <a:pPr>
              <a:spcAft>
                <a:spcPts val="329"/>
              </a:spcAft>
              <a:defRPr sz="1100" b="0">
                <a:solidFill>
                  <a:srgbClr val="767676"/>
                </a:solidFill>
                <a:latin typeface="Calibri"/>
              </a:defRPr>
            </a:pPr>
            <a:r>
              <a:t>Setup + operating costs: ($2.7M)</a:t>
            </a:r>
          </a:p>
          <a:p>
            <a:pPr>
              <a:spcAft>
                <a:spcPts val="38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Net value: $10.2M  |  Return: 3.8x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COULD 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Hardware company to performance intelligence by 2031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Proven AI pilots, strong data infrastructure, and teams that understand guardrails unlock the innovation no competitor can replicate.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137160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50800" cy="13716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3852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THE UNLOCK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194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C1C1E"/>
                </a:solidFill>
                <a:latin typeface="Calibri"/>
              </a:defRPr>
            </a:pPr>
            <a:r>
              <a:t>AXS Intelligence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Unified rider dashboard: power, gearing, suspension, heart rate in one view. No competitor has the product breadth to build this.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COULD 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Hardware company to performance intelligence by 2031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Proven AI pilots, strong data infrastructure, and teams that understand guardrails unlock the innovation no competitor can replicate.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137160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50800" cy="13716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3852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THE UNLOCK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194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C1C1E"/>
                </a:solidFill>
                <a:latin typeface="Calibri"/>
              </a:defRPr>
            </a:pPr>
            <a:r>
              <a:t>AXS Intelligence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Unified rider dashboard: power, gearing, suspension, heart rate in one view. No competitor has the product breadth to build this.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657600"/>
            <a:ext cx="34290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79476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Predictive Maintenance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114800"/>
            <a:ext cx="2971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Connected components predict chain and brake pad replacement before failure. Installed base becomes recurring revenue.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3657600"/>
            <a:ext cx="34290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379476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AI-Tuned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4114800"/>
            <a:ext cx="2971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Suspension auto-adjusts to terrain. Shifting optimizes for rider power. Products improve continuously after purchase.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3657600"/>
            <a:ext cx="34290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379476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Dealer Intelligence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4114800"/>
            <a:ext cx="2971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Telemetry tells dealers which parts approach end-of-life in their area. Proactive ordering replaces reactive.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303520"/>
            <a:ext cx="10698480" cy="411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5303520"/>
            <a:ext cx="50800" cy="41148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5340096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Hardware sells data access  →  Data improves performance  →  Performance sells hardware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Three actions for SRAM's CEO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" y="160020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46304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Launch the 90-Day Support 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82880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AXS and Hammerhead dealer support. One product owner, one integration engineer. Human approval on all outputs. Weekly quality reviews with defined rollback trigger.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8892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301752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88036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Begin Data Infrastructure Planning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2461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Unified data layer connecting Shopify, support systems, and telemetry. Foundation for Phase 2 forecasting and Phase 4 AXS Intelligence platform.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0624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443484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29768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Hold Sequencing Discipline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6634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Bounded, well-defined problems first. Broader transformation after measured proof. The 90-day pilot produces data to justify or redirect every subsequent investment.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715000"/>
            <a:ext cx="105156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715000"/>
            <a:ext cx="50800" cy="54864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742432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0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Expected Year-1 return: 3.8x on $2.7M spend</a:t>
            </a:r>
          </a:p>
          <a:p>
            <a:pPr>
              <a:spcAft>
                <a:spcPts val="220"/>
              </a:spcAft>
              <a:defRPr sz="1100" b="0">
                <a:solidFill>
                  <a:srgbClr val="767676"/>
                </a:solidFill>
                <a:latin typeface="Calibri"/>
              </a:defRPr>
            </a:pPr>
            <a:r>
              <a:t>Downside bounded by 90-day pilot  |  Upside scales with SRAM's data advantage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Financial detail across three scenarios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Category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Expected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Upside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1907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Support assistant savings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$1.6M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$4.3M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Forecasting + inventory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$1.6M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245059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Documentation + translation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$0.1M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$0.24M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$0.9M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Customer retention revenue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$1.5M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$3.0M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318211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Package size increase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$2.0M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$8.0M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Proposal win-rate revenue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$1.3M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$2.5M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$3.8M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3931920"/>
            <a:ext cx="10515600" cy="127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Gross value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747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$6.1M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$12.9M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611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$26.0M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Setup costs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747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($1.2M)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($2.0M)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611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($2.5M)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Operating costs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747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($0.4M)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($0.7M)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($1.0M)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747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$22.5M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747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2.8x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611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6.4x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Interview with Jordan Hartsell, VP Digital Products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767676"/>
                </a:solidFill>
                <a:latin typeface="Calibri"/>
              </a:defRPr>
            </a:pPr>
            <a:r>
              <a:t>45-minute Zoom call  |  March 2026  |  Key quotes and insights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3736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DATA READINESS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94767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“We have good data in pockets and messy data everywhere else. If I wanted to build a support AI today, I could get it to work well for AXS and Hammerhead. The moment a dealer asks about a RockShox fork on a 2019 frame with a third-party brake, I start to sweat.”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0116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Validates bounded pilot scope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8036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88036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2608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ADOPTION BARRIERS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3639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“The resistance comes from customer-facing teams because they worry AI will produce confident-sounding wrong answers that damage dealer relationships they have spent years building.”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200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Human-in-the-loop is mandatory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06908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406908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1148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COMPETITIVE ADVANTAGE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32511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“A Shimano rider uses the app to check compatibility. A Hammerhead rider uses it to train, navigate, and communicate with their component stack. That is a fundamentally different data relationship.”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389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Hammerhead is SRAM's real AI moat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25780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525780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303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SUCCESS CRITERIA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51383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“I want one workflow measurably faster, measurably more accurate, with no regression in dealer satisfaction scores.”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55778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Aligns with our 90-day pilot targets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Phasing, talent, and organizational enablers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46304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1: Support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0-90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96596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1 integration engineer (internal or contractor)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1 product owner from support organization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Zendesk AI + Amazon Kendra + Bedrock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No new AI/ML hires required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37160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46304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2: Data Foundation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6916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90-180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96596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Add product managers and QA capacity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Unified data layer linking CRM + inventory + telemetry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AWS SageMaker for forecasting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ERP system evaluation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319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3: Revenue Acceleration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160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180-365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43484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Salesforce Einstein/Agentforce for OEM proposals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Compatibility rules engine for recommendations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Cross-functional product + sales alignment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Expected $2.5M from 1% win-rate improvement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84048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39319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4: AI-First Culture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160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Year 2+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43484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AXS Intelligence Platform development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Digital twin and generative design capability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Predictive maintenance subscription model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AI-adjusted component performance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