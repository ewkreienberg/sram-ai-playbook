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94560"/>
            <a:ext cx="109728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40"/>
              </a:spcAft>
              <a:defRPr sz="4400" b="1">
                <a:solidFill>
                  <a:srgbClr val="1C1C1E"/>
                </a:solidFill>
                <a:latin typeface="Calibri"/>
              </a:defRPr>
            </a:pPr>
            <a:r>
              <a:t>SRAM LLC</a:t>
            </a:r>
          </a:p>
          <a:p>
            <a:pPr>
              <a:spcAft>
                <a:spcPts val="1560"/>
              </a:spcAft>
              <a:defRPr sz="2600" b="0">
                <a:solidFill>
                  <a:srgbClr val="767676"/>
                </a:solidFill>
                <a:latin typeface="Calibri"/>
              </a:defRPr>
            </a:pPr>
            <a:r>
              <a:t>AI Adoption Playbook</a:t>
            </a:r>
          </a:p>
          <a:p>
            <a:pPr>
              <a:spcAft>
                <a:spcPts val="600"/>
              </a:spcAft>
              <a:defRPr sz="10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960"/>
              </a:spcAft>
              <a:defRPr sz="1600" b="0">
                <a:solidFill>
                  <a:srgbClr val="3A3A3C"/>
                </a:solidFill>
                <a:latin typeface="Calibri"/>
              </a:defRPr>
            </a:pPr>
            <a:r>
              <a:t>A $10M opportunity starting with a 90-day pilot</a:t>
            </a:r>
          </a:p>
          <a:p>
            <a:pPr>
              <a:spcAft>
                <a:spcPts val="480"/>
              </a:spcAft>
              <a:defRPr sz="8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Prepared for Executive Leadership  |  March 2026</a:t>
            </a:r>
          </a:p>
          <a:p>
            <a:pPr>
              <a:spcAft>
                <a:spcPts val="360"/>
              </a:spcAft>
              <a:defRPr sz="6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780"/>
              </a:spcAft>
              <a:defRPr sz="1300" b="0">
                <a:solidFill>
                  <a:srgbClr val="767676"/>
                </a:solidFill>
                <a:latin typeface="Calibri"/>
              </a:defRPr>
            </a:pPr>
            <a:r>
              <a:t>Donovan Palmer, Ed Kreienberg, Will Zheng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AIML 950  |  Human and Machine Intelligence  |  Northwestern Kellogg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 makes the parts that make bikes go, stop, and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A $1B+ company headquartered in Chicago, powering bikes from weekend rides to the Tour de France.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Gears, chains, and disc</a:t>
            </a:r>
            <a:br/>
            <a:r>
              <a:t>brakes for every bike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5270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5270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70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986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Forks and shocks that</a:t>
            </a:r>
            <a:br/>
            <a:r>
              <a:t>absorb trail impacts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388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388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388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Aero wheels, handlebars,</a:t>
            </a:r>
            <a:br/>
            <a:r>
              <a:t>and 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506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506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506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Sensors that measure</a:t>
            </a:r>
            <a:br/>
            <a:r>
              <a:t>rider output in watts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624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624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24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GPS Bike Computer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340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On-bike computer for</a:t>
            </a:r>
            <a:br/>
            <a:r>
              <a:t>navigation and training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37420" y="2011680"/>
            <a:ext cx="159258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37420" y="2194560"/>
            <a:ext cx="15925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7420" y="2514600"/>
            <a:ext cx="15925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4580" y="3017520"/>
            <a:ext cx="13182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Clip-in pedal systems</a:t>
            </a:r>
            <a:br/>
            <a:r>
              <a:t>for road and mountain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A3A3C"/>
                </a:solidFill>
                <a:latin typeface="Calibri"/>
              </a:defRPr>
            </a:pPr>
            <a:r>
              <a:t>6 brands. 1 connected ecosystem. From weekend riders to Tour de France pros.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SRAM's connected ecosystem is unmatched in cycling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Private, Chicago-founded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Integrated portfolio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MTB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Market leader globally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5603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002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28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Support-driven churn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SRAM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Drivetrains + Braking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244144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0603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19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RockShox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19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Suspension</a:t>
            </a:r>
          </a:p>
        </p:txBody>
      </p:sp>
      <p:sp>
        <p:nvSpPr>
          <p:cNvPr id="28" name="Isosceles Triangle 27"/>
          <p:cNvSpPr/>
          <p:nvPr/>
        </p:nvSpPr>
        <p:spPr>
          <a:xfrm rot="5400000">
            <a:off x="431596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Zipp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1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Wheels + Cockpit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619048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55079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39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Quarq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39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Power Meters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8065007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Hammerhead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GPS Bike Computer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9939528" y="3291840"/>
            <a:ext cx="274320" cy="27432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04120" y="3017520"/>
            <a:ext cx="16916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3090672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38328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Pedals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114800"/>
            <a:ext cx="11064240" cy="320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4133087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AXS Wireless Ecosystem  |  All 6 brands connect wirelessly and share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84632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484632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49377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“A rider on Shimano [SRAM's largest competitor] uses the app to check if parts fit. A Hammerhead rider uses it to train, navigate, and talk to every component on the bike. That is a fundamentally different data relationship.”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3492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94360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Sources: MTB share per Bicycle Retailer industry analysis; Trustpilot rating as of Feb 2026 (n=180+ reviews)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AI opportunities exist across every function at SRAM.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WHERE AI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12 AI initiatives across four business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Start where domain knowledge is high and outcomes are measurable. Support is the proving ground for everything that follows.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Quick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Medium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Long-Term Bet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01368"/>
            <a:ext cx="9189720" cy="254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11338560" y="1746504"/>
            <a:ext cx="137160" cy="128016"/>
          </a:xfrm>
          <a:prstGeom prst="triangle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50800" cy="822960"/>
          </a:xfrm>
          <a:prstGeom prst="rect">
            <a:avLst/>
          </a:prstGeom>
          <a:solidFill>
            <a:srgbClr val="7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A5C8A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Generative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Physical testing is slow and expensive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AXS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Telemetry data is collected but unused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AI-Tuned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Suspension and shifting are static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971800"/>
            <a:ext cx="50800" cy="822960"/>
          </a:xfrm>
          <a:prstGeom prst="rect">
            <a:avLst/>
          </a:prstGeom>
          <a:solidFill>
            <a:srgbClr val="8B6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2004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8B6D2E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OEM Proposal Automation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Proposal cycles are slow, manual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Part Recommendations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guided upsell at point of 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297180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200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DTC Personalization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474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Velocio has no targeting capability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50800" cy="822960"/>
          </a:xfrm>
          <a:prstGeom prst="rect">
            <a:avLst/>
          </a:prstGeom>
          <a:solidFill>
            <a:srgbClr val="5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2519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B8C5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Demand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No forecasting system exists today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5780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Inventory Allocation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Stockouts and rush shipping losses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023360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251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Customer 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Shopify data is siloed, unused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074919"/>
            <a:ext cx="50800" cy="82296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303519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19456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94560" y="5074919"/>
            <a:ext cx="50800" cy="82296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148071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51937"/>
                </a:solidFill>
                <a:latin typeface="Calibri"/>
              </a:defRPr>
            </a:pPr>
            <a:r>
              <a:t>RECOMMENDED 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AI Support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70% of dealer questions are repetitive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25780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4068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Warranty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Fraudulent and mis-filed claims cost time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5074919"/>
            <a:ext cx="2926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03920" y="5303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Compatibility Assistant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577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Riders get wrong parts, return them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5001767"/>
            <a:ext cx="10927080" cy="969264"/>
          </a:xfrm>
          <a:prstGeom prst="rect">
            <a:avLst/>
          </a:prstGeom>
          <a:noFill/>
          <a:ln w="3175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84080" y="4782311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2D5F8A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 updates, part compatibility, and warranty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Support quality drives churn, not product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Riders love SRAM hardware. They struggle with firmware updates, part compatibility, and warranty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TRUSTPILOT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1.6 / 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Warranty friction and support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AUTOMATABLE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Questions follow documented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1488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TOP COMPLAINTS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43B4F"/>
                </a:solidFill>
                <a:latin typeface="Calibri"/>
              </a:defRPr>
            </a:pPr>
            <a:r>
              <a:t>Firmware + Pairing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8346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Reddit, app stores, Trustpilot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7899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05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“The first question I ask anyone skeptical about AI is: do you want to spend your day searching a 200-page compatibility PDF, or do you want to spend it talking to dealers?”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9204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AI drafts responses, humans approve them, nobody gets a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43B4F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1. Dealer emails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"Which AXS derailleur firmware works with my 2024 Eagle cassette?"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2. Agent searches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363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Opens a 200-page compatibility PDF.</a:t>
            </a:r>
            <a:br/>
            <a:r>
              <a:t>Searches across multiple documents and wikis.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1363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3. Agent writes a response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87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Types out the answer, double-checks part numbers,</a:t>
            </a:r>
            <a:br/>
            <a:r>
              <a:t>hopes nothing changed since last update.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92039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965191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4. Dealer waits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9511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Average first response: ~4 hours.</a:t>
            </a:r>
            <a:br/>
            <a:r>
              <a:t>70% of questions follow the same patterns.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71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D5F8A"/>
                </a:solidFill>
                <a:latin typeface="Calibri"/>
              </a:defRPr>
            </a:pPr>
            <a:r>
              <a:t>WITH AI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1051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1. Same question arrives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8483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Dealer submits via Zendesk. Nothing changes for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8892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6207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2. AI searches approved docs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3639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Amazon Kendra indexes SRAM's compatibility tables,</a:t>
            </a:r>
            <a:br/>
            <a:r>
              <a:t>firmware notes, and service bulletins.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3. AI drafts a response for the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18795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Amazon Bedrock generates an answer from the knowledge</a:t>
            </a:r>
            <a:br/>
            <a:r>
              <a:t>base. Agent reviews and edits before sending.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92039"/>
            <a:ext cx="5029200" cy="9144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2D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965191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C1C1E"/>
                </a:solidFill>
                <a:latin typeface="Calibri"/>
              </a:defRPr>
            </a:pPr>
            <a:r>
              <a:t>4. Dealer gets a faster, verified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39511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Target first response: ~2.5 hours.</a:t>
            </a:r>
            <a:br/>
            <a:r>
              <a:t>Agent spends time on hard problems, not repetitive ones.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5806440" y="3200400"/>
            <a:ext cx="320040" cy="32004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AI drafts responses, humans approve them, nobody gets a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AXS + Hammerhead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Products where SRAM's documentation</a:t>
            </a:r>
            <a:br/>
            <a:r>
              <a:t>is complete and structured.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72768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GUARDRAIL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Human approves every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3317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No AI answer reaches a dealer without</a:t>
            </a:r>
            <a:br/>
            <a:r>
              <a:t>an agent reviewing and sending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46304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9" y="1572768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5F8A"/>
                </a:solidFill>
                <a:latin typeface="Calibri"/>
              </a:defRPr>
            </a:pPr>
            <a:r>
              <a:t>KILL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18288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Weekly quality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3317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2 weeks of quality decline, any safety</a:t>
            </a:r>
            <a:br/>
            <a:r>
              <a:t>error, or 15% dealer opt-out stops the pilot.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78992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0800" cy="7772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97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“I would rather shut it down and restart than defend a mistake to Ken. The first question I ask anyone skeptical about AI is: do you want to spend your day searching a 200-page compatibility PDF, or do you want to spend it talking to dealers?”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09160"/>
            <a:ext cx="10241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Four metrics measured weekly, two checkpoints with teeth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Hartsell set the bar: "One workflow measurably faster, measurably more accurate, with no regression in dealer satisfaction scores."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FIRST-RESPONSE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~4 hrs today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3017520" y="2212848"/>
            <a:ext cx="228600" cy="22860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51937"/>
                </a:solidFill>
                <a:latin typeface="Calibri"/>
              </a:defRPr>
            </a:pPr>
            <a:r>
              <a:t>Under 2.5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AI pre-drafts answers so agents</a:t>
            </a:r>
            <a:br/>
            <a:r>
              <a:t>edit instead of write from scratch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FIRST-CONTACT RESOLUTION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Baseline TBD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8595360" y="2212848"/>
            <a:ext cx="228600" cy="22860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51937"/>
                </a:solidFill>
                <a:latin typeface="Calibri"/>
              </a:defRPr>
            </a:pPr>
            <a:r>
              <a:t>+15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Better answers on the first try</a:t>
            </a:r>
            <a:br/>
            <a:r>
              <a:t>means fewer back-and-forth exchanges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23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AI DRAFT ACCEPTANCE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N/A (new metric)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3017520" y="4315968"/>
            <a:ext cx="228600" cy="22860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51937"/>
                </a:solidFill>
                <a:latin typeface="Calibri"/>
              </a:defRPr>
            </a:pPr>
            <a:r>
              <a:t>&gt;70%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Agents approve the AI draft as-is</a:t>
            </a:r>
            <a:br/>
            <a:r>
              <a:t>or with minor edits. Below 50%</a:t>
            </a:r>
            <a:br/>
            <a:r>
              <a:t>at day 45 triggers scope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31920"/>
            <a:ext cx="534924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233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DEALER SATISFACTION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Current baseline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8595360" y="4315968"/>
            <a:ext cx="228600" cy="228600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51937"/>
                </a:solidFill>
                <a:latin typeface="Calibri"/>
              </a:defRPr>
            </a:pPr>
            <a:r>
              <a:t>No decline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75488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Any sustained drop triggers</a:t>
            </a:r>
            <a:br/>
            <a:r>
              <a:t>immediate rollback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phases, two checkpoints, one decision at day 90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3657600"/>
          </a:xfrm>
          <a:prstGeom prst="roundRect">
            <a:avLst>
              <a:gd name="adj" fmla="val 4000"/>
            </a:avLst>
          </a:prstGeom>
          <a:solidFill>
            <a:srgbClr val="D4E4F0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PHASE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1C1C1E"/>
                </a:solidFill>
                <a:latin typeface="Calibri"/>
              </a:defRPr>
            </a:pPr>
            <a:r>
              <a:t>Weeks 1-4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Build +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Connect Zendesk to Amazon Kendra + Bedrock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Index AXS and Hammerhead documentation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Measure current response times, resolution rates,</a:t>
            </a:r>
            <a:br/>
            <a:r>
              <a:t>and satisfaction scores as the baseline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4169664" y="3017520"/>
            <a:ext cx="164592" cy="164592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29000" cy="3657600"/>
          </a:xfrm>
          <a:prstGeom prst="roundRect">
            <a:avLst>
              <a:gd name="adj" fmla="val 4000"/>
            </a:avLst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PHASE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Weeks 5-10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Execute + 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AI drafts responses for AXS tickets (week 5)</a:t>
            </a:r>
          </a:p>
          <a:p>
            <a:pPr>
              <a:spcAft>
                <a:spcPts val="1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Expand to Hammerhead tickets (week 8)</a:t>
            </a:r>
          </a:p>
          <a:p>
            <a:pPr>
              <a:spcAft>
                <a:spcPts val="11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•  Agents review 100% of AI drafts before sending</a:t>
            </a:r>
            <a:br/>
            <a:r>
              <a:t>Weekly measurement against all four goals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7781544" y="3017520"/>
            <a:ext cx="164592" cy="164592"/>
          </a:xfrm>
          <a:prstGeom prst="triangle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80" y="1371600"/>
            <a:ext cx="34290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C1C1E"/>
                </a:solidFill>
                <a:latin typeface="Calibri"/>
              </a:defRPr>
            </a:pPr>
            <a:r>
              <a:t>PHASE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4813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1C1C1E"/>
                </a:solidFill>
                <a:latin typeface="Calibri"/>
              </a:defRPr>
            </a:pPr>
            <a:r>
              <a:t>Weeks 11-13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7830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Evaluate + 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240280"/>
            <a:ext cx="2971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Compile 90-day results against targets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Present findings to CEO and support leadership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Decision: scale to more products, adjust scope,</a:t>
            </a:r>
            <a:br/>
            <a:r>
              <a:t>or stop and redirect investment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50800" cy="6400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376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DAY-45 CHECKPOINT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If AI draft acceptance is below 50%, review scope and</a:t>
            </a:r>
            <a:br/>
            <a:r>
              <a:t>knowledge base quality before continuing.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3035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303520"/>
            <a:ext cx="50800" cy="6400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76672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DAY-90 GO / NO-GO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CEO decides: scale to RockShox and broader product</a:t>
            </a:r>
            <a:br/>
            <a:r>
              <a:t>lines, adjust approach, or stop and redirect spend.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 net value in Year 1 on $2.7M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Scenario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2.8x ROI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029200" cy="731520"/>
          </a:xfrm>
          <a:prstGeom prst="roundRect">
            <a:avLst>
              <a:gd name="adj" fmla="val 2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26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3.8x 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49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C1C1E"/>
                </a:solidFill>
                <a:latin typeface="Calibri"/>
              </a:defRPr>
            </a:pPr>
            <a:r>
              <a:t>$22.5M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67676"/>
                </a:solidFill>
                <a:latin typeface="Calibri"/>
              </a:defRPr>
            </a:pPr>
            <a:r>
              <a:t>6.4x ROI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C1C1E"/>
                </a:solidFill>
                <a:latin typeface="Calibri"/>
              </a:defRPr>
            </a:pPr>
            <a:r>
              <a:t>Year-1 Financial Impact (All Phases)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Expected case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737360"/>
            <a:ext cx="256032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67676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03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560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67676"/>
                </a:solidFill>
                <a:latin typeface="Calibri"/>
              </a:defRPr>
            </a:pPr>
            <a:r>
              <a:t>On $2.7M total spend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01752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Cost Reductions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Support automation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Demand forecasting savings: $1.6M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Documentation and translation: $0.24M</a:t>
            </a:r>
          </a:p>
          <a:p>
            <a:pPr>
              <a:spcAft>
                <a:spcPts val="199"/>
              </a:spcAft>
              <a:defRPr sz="500" b="0">
                <a:solidFill>
                  <a:srgbClr val="767676"/>
                </a:solidFill>
                <a:latin typeface="Calibr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Revenue Growth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Customer retention: $3.0M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Package size increase: $4.0M</a:t>
            </a:r>
          </a:p>
          <a:p>
            <a:pPr>
              <a:spcAft>
                <a:spcPts val="439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Proposal win rate: $2.5M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3520"/>
            <a:ext cx="5303520" cy="7772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3492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1C1C1E"/>
                </a:solidFill>
                <a:latin typeface="Calibri"/>
              </a:defRPr>
            </a:pPr>
            <a:r>
              <a:t>Gross value: $12.9M</a:t>
            </a:r>
          </a:p>
          <a:p>
            <a:pPr>
              <a:spcAft>
                <a:spcPts val="329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Setup + operating costs: ($2.7M)</a:t>
            </a:r>
          </a:p>
          <a:p>
            <a:pPr>
              <a:spcAft>
                <a:spcPts val="389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Net value: $10.2M  |  Return: 3.8x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Estimates based on industry benchmarks, interview data, and SRAM public filings. Full breakdown in Appendix A1.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COULD 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Hardware company to performance intelligence by 2031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Each capability creates a new recurring revenue stream. SRAM's installed base of connected components becomes a platform, not a one-time sale.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800" cy="13716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THE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E"/>
                </a:solidFill>
                <a:latin typeface="Calibri"/>
              </a:defRPr>
            </a:pPr>
            <a:r>
              <a:t>AXS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A3A3C"/>
                </a:solidFill>
                <a:latin typeface="Calibri"/>
              </a:defRPr>
            </a:pPr>
            <a:r>
              <a:t>Unified rider dashboard: power, gearing, suspension, heart rate in one view. No competitor has the product breadth to build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E51937"/>
                </a:solidFill>
                <a:latin typeface="Calibri"/>
              </a:defRPr>
            </a:pPr>
            <a:r>
              <a:t>NEW REVENUE: Premium subscription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Predictive Maintenance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Connected components predict chain and brake pad replacement before failure. Installed base becomes recurring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Per-device monitoring subscription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AI-Tuned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Suspension auto-adjusts to terrain. Shifting optimizes for rider power. Products improve continuously after purchase.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Premium optimization tier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57600"/>
            <a:ext cx="3429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79476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E"/>
                </a:solidFill>
                <a:latin typeface="Calibri"/>
              </a:defRPr>
            </a:pPr>
            <a:r>
              <a:t>Dealer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Telemetry tells dealers which parts approach end-of-life in their area. Proactive ordering replaces reactive.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709160"/>
            <a:ext cx="2971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51937"/>
                </a:solidFill>
                <a:latin typeface="Calibri"/>
              </a:defRPr>
            </a:pPr>
            <a:r>
              <a:t>NEW REVENUE: Dealer analytics license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50800" cy="41148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52297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Hardware sells data access  →  Data improves performance  →  Performance sells hardware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WHAT IT 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Talent, data, and leadership required at each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TALENT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1 integration engineer + 1 product owner.</a:t>
            </a:r>
            <a:br/>
            <a:r>
              <a:t>No new AI/ML hires. 250-400 existing engineers</a:t>
            </a:r>
            <a:br/>
            <a:r>
              <a:t>have capacity with AI-assisted tooling.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Add product managers and QA capacity.</a:t>
            </a:r>
            <a:br/>
            <a:r>
              <a:t>The constraint is PM and QA, not developers.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716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9385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94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Good data in pockets, messy data everywhere</a:t>
            </a:r>
            <a:br/>
            <a:r>
              <a:t>else. 18 months of consolidation underway.</a:t>
            </a:r>
            <a:br/>
            <a:r>
              <a:t>AXS + Hammerhead data is pilot-ready.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95020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Unified data layer linking CRM, inventory,</a:t>
            </a:r>
            <a:br/>
            <a:r>
              <a:t>and telemetry. Foundation for Phase 2-4.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37160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182880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93852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9456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CEO assigns one accountable business owner</a:t>
            </a:r>
            <a:br/>
            <a:r>
              <a:t>with authority over scope and tooling decisions.</a:t>
            </a:r>
            <a:br/>
            <a:r>
              <a:t>Weekly quality reviews.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950208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OPEN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206240"/>
            <a:ext cx="3063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No confirmed executive sponsor above</a:t>
            </a:r>
            <a:br/>
            <a:r>
              <a:t>Hartsell for the data consolidation roadmap.</a:t>
            </a:r>
            <a:br/>
            <a:r>
              <a:t>Resolving this is a prerequisite for Phase 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623560"/>
            <a:ext cx="1069848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623560"/>
            <a:ext cx="50800" cy="50292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715000"/>
            <a:ext cx="10149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A3A3C"/>
                </a:solidFill>
                <a:latin typeface="Calibri"/>
              </a:defRPr>
            </a:pPr>
            <a:r>
              <a:t>“We are 60 to 70 percent of the way to deploying a bounded support assistant for AXS and Hammerhead products.”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852160"/>
            <a:ext cx="10149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Jordan Hartsell, VP Digital Products, SRAM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risks worth naming before the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Dealer trust is fragile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One confident wrong answer from the AI reaches a dealer, and the support team loses credibility it spent years building. Human-in-the-loop and weekly quality reviews mitigate this, but they also slow throughput gains.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Kill criteria trigger rollback at first safety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9718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Data consolidation has no executive sponsor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Hartsell owns digital products but not the CRM, ERP, or inventory systems. Phase 2 requires a unified data layer across those systems. Without a senior sponsor, data integration stalls and the pilot stays isolated.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CEO assigns cross-functional data owner in parallel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50800" cy="1371600"/>
          </a:xfrm>
          <a:prstGeom prst="rect">
            <a:avLst/>
          </a:prstGeom>
          <a:solidFill>
            <a:srgbClr val="C43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AI hype creates unrealistic internal expectations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983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SRAM's engineering culture values precision. If leadership frames AI as a silver bullet rather than a tool, early imperfections will fuel skepticism and internal resistance to future phases.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MITIGATION: Frame pilot as experiment with defined success and failure criteria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Three actions for SRAM's CEO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60020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Launch the 90-Day Support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AXS and Hammerhead dealer support. One product owner, one integration engineer. Human approval on all outputs. Weekly quality reviews with defined rollback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Begin Data Infrastructure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4612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Unified data layer connecting Shopify, support systems, and telemetry. Foundation for Phase 2 forecasting and Phase 4 AXS Intelligence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4434840"/>
            <a:ext cx="457200" cy="457200"/>
          </a:xfrm>
          <a:prstGeom prst="ellipse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5F3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E"/>
                </a:solidFill>
                <a:latin typeface="Calibri"/>
              </a:defRPr>
            </a:pPr>
            <a:r>
              <a:t>Hold Sequencing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A3A3C"/>
                </a:solidFill>
                <a:latin typeface="Calibri"/>
              </a:defRPr>
            </a:pPr>
            <a:r>
              <a:t>Bounded, well-defined problems first. Broader transformation after measured proof. The 90-day pilot produces data to justify or redirect every subsequent investment.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15000"/>
            <a:ext cx="10515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715000"/>
            <a:ext cx="50800" cy="54864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7424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"/>
              </a:spcAft>
              <a:defRPr sz="1300" b="1">
                <a:solidFill>
                  <a:srgbClr val="1C1C1E"/>
                </a:solidFill>
                <a:latin typeface="Calibri"/>
              </a:defRPr>
            </a:pPr>
            <a:r>
              <a:t>Expected Year-1 return: 3.8x on $2.7M spend</a:t>
            </a:r>
          </a:p>
          <a:p>
            <a:pPr>
              <a:spcAft>
                <a:spcPts val="220"/>
              </a:spcAft>
              <a:defRPr sz="1100" b="0">
                <a:solidFill>
                  <a:srgbClr val="767676"/>
                </a:solidFill>
                <a:latin typeface="Calibri"/>
              </a:defRPr>
            </a:pPr>
            <a:r>
              <a:t>Downside bounded by 90-day pilot  |  Upside scales with SRAM's data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SRAM AI Adoption Playbook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Financial detail across three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Conservative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Expected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1907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Support assistant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Forecasting +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$1.6M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45059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Documentation + translation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$0.24M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$0.9M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Customer retention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$3.0M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182112"/>
            <a:ext cx="10515600" cy="347472"/>
          </a:xfrm>
          <a:prstGeom prst="roundRect">
            <a:avLst>
              <a:gd name="adj" fmla="val 2000"/>
            </a:avLst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Package size increase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$2.0M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$8.0M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Proposal win-rate revenue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$1.3M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$2.5M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$3.8M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0515600" cy="12700"/>
          </a:xfrm>
          <a:prstGeom prst="rect">
            <a:avLst/>
          </a:prstGeom>
          <a:solidFill>
            <a:srgbClr val="E0E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Gross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$6.1M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$12.9M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$26.0M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Setup costs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($1.2M)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($2.0M)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($2.5M)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C1C1E"/>
                </a:solidFill>
                <a:latin typeface="Calibri"/>
              </a:defRPr>
            </a:pPr>
            <a:r>
              <a:t>Operating costs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($0.4M)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($0.7M)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3A3A3C"/>
                </a:solidFill>
                <a:latin typeface="Calibri"/>
              </a:defRPr>
            </a:pPr>
            <a:r>
              <a:t>($1.0M)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Net Year-1 value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$4.5M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$10.2M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166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$22.5M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Return on spend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2.8x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3.8x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C1C1E"/>
                </a:solidFill>
                <a:latin typeface="Calibri"/>
              </a:defRPr>
            </a:pPr>
            <a:r>
              <a:t>6.4x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Interview with Jordan Hartsell, VP Digital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767676"/>
                </a:solidFill>
                <a:latin typeface="Calibri"/>
              </a:defRPr>
            </a:pPr>
            <a:r>
              <a:t>45-minute Zoom call  |  March 2026  |  Key quotes and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DATA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“We have good data in pockets and messy data everywhere else. If I wanted to build a support AI today, I could get it to work well for AXS and Hammerhead. The moment a dealer asks about a RockShox fork on a 2019 frame with a third-party brake, I start to sweat.”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Validates bounded pilot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036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88036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26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ADOPTION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“The resistance comes from customer-facing teams because they worry AI will produce confident-sounding wrong answers that damage dealer relationships they have spent years building.”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Human-in-the-loop is mandatory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6908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COMPETITIVE ADVANTAGE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2511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“A rider on Shimano [SRAM's largest competitor] uses the app to check if parts fit. A Hammerhead rider uses it to train, navigate, and talk to every component on the bike. That is a fundamentally different data relationship.”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Hammerhead is SRAM's real AI moat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57800"/>
            <a:ext cx="1078992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50800" cy="1005840"/>
          </a:xfrm>
          <a:prstGeom prst="rect">
            <a:avLst/>
          </a:prstGeom>
          <a:solidFill>
            <a:srgbClr val="767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67676"/>
                </a:solidFill>
                <a:latin typeface="Calibri"/>
              </a:defRPr>
            </a:pPr>
            <a:r>
              <a:t>ON SUCCESS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1383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3A3A3C"/>
                </a:solidFill>
                <a:latin typeface="Calibri"/>
              </a:defRPr>
            </a:pPr>
            <a:r>
              <a:t>“I want one workflow measurably faster, measurably more accurate, with no regression in dealer satisfaction scores.”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C1C1E"/>
                </a:solidFill>
                <a:latin typeface="Calibri"/>
              </a:defRPr>
            </a:pPr>
            <a:r>
              <a:t>→ Aligns with our 90-day pilot targets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76767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C1C1E"/>
                </a:solidFill>
                <a:latin typeface="Calibri"/>
              </a:defRPr>
            </a:pPr>
            <a:r>
              <a:t>Phasing, talent, and organizational enablers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31520" cy="38100"/>
          </a:xfrm>
          <a:prstGeom prst="rect">
            <a:avLst/>
          </a:prstGeom>
          <a:solidFill>
            <a:srgbClr val="E5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DF0F2"/>
          </a:solidFill>
          <a:ln w="12700">
            <a:solidFill>
              <a:srgbClr val="E5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1: Support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51937"/>
                </a:solidFill>
                <a:latin typeface="Calibri"/>
              </a:defRPr>
            </a:pPr>
            <a:r>
              <a:t>0-90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integration engineer (internal or contractor)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1 product owner from support organization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Zendesk AI + Amazon Kendra + Bedrock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No new AI/ML hires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6304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2: Data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691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90-180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96596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Add product managers and QA capacity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Unified data layer linking CRM + inventory + telemetry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AWS SageMaker for forecasting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ERP system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3: Revenue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180-365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Salesforce Einstein/Agentforce for OEM proposals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Compatibility rules engine for recommendations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Cross-functional product + sales alignment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Expected $2.5M from 1% win-rate improvement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44068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31920"/>
            <a:ext cx="4983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C1C1E"/>
                </a:solidFill>
                <a:latin typeface="Calibri"/>
              </a:defRPr>
            </a:pPr>
            <a:r>
              <a:t>Phase 4: AI-First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605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767676"/>
                </a:solidFill>
                <a:latin typeface="Calibri"/>
              </a:defRPr>
            </a:pPr>
            <a:r>
              <a:t>Year 2+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434840"/>
            <a:ext cx="4983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AXS Intelligence Platform development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Digital twin and generative design capability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Predictive maintenance subscription model</a:t>
            </a:r>
          </a:p>
          <a:p>
            <a:pPr>
              <a:spcAft>
                <a:spcPts val="1100"/>
              </a:spcAft>
              <a:defRPr sz="1100" b="0">
                <a:solidFill>
                  <a:srgbClr val="3A3A3C"/>
                </a:solidFill>
                <a:latin typeface="Calibri"/>
              </a:defRPr>
            </a:pPr>
            <a:r>
              <a:t>•  AI-adjusted component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67676"/>
                </a:solidFill>
                <a:latin typeface="Calibri"/>
              </a:defRPr>
            </a:pPr>
            <a:r>
              <a:t>APPENDIX 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