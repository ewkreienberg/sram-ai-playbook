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0" y="2194560"/>
            <a:ext cx="109728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2377440"/>
            <a:ext cx="9144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640"/>
              </a:spcAft>
              <a:defRPr sz="4400" b="1">
                <a:solidFill>
                  <a:srgbClr val="1C1C1E"/>
                </a:solidFill>
                <a:latin typeface="Calibri"/>
              </a:defRPr>
            </a:pPr>
            <a:r>
              <a:t>SRAM LLC</a:t>
            </a:r>
          </a:p>
          <a:p>
            <a:pPr>
              <a:spcAft>
                <a:spcPts val="1560"/>
              </a:spcAft>
              <a:defRPr sz="2600" b="0">
                <a:solidFill>
                  <a:srgbClr val="767676"/>
                </a:solidFill>
                <a:latin typeface="Calibri"/>
              </a:defRPr>
            </a:pPr>
            <a:r>
              <a:t>AI Adoption Playbook</a:t>
            </a:r>
          </a:p>
          <a:p>
            <a:pPr>
              <a:spcAft>
                <a:spcPts val="600"/>
              </a:spcAft>
              <a:defRPr sz="1000" b="0">
                <a:solidFill>
                  <a:srgbClr val="767676"/>
                </a:solidFill>
                <a:latin typeface="Calibri"/>
              </a:defRPr>
            </a:pPr>
          </a:p>
          <a:p>
            <a:pPr>
              <a:spcAft>
                <a:spcPts val="960"/>
              </a:spcAft>
              <a:defRPr sz="1600" b="0">
                <a:solidFill>
                  <a:srgbClr val="3A3A3C"/>
                </a:solidFill>
                <a:latin typeface="Calibri"/>
              </a:defRPr>
            </a:pPr>
            <a:r>
              <a:t>A $10M opportunity starting with a 90-day pilot</a:t>
            </a:r>
          </a:p>
          <a:p>
            <a:pPr>
              <a:spcAft>
                <a:spcPts val="480"/>
              </a:spcAft>
              <a:defRPr sz="800" b="0">
                <a:solidFill>
                  <a:srgbClr val="767676"/>
                </a:solidFill>
                <a:latin typeface="Calibri"/>
              </a:defRPr>
            </a:pPr>
          </a:p>
          <a:p>
            <a:pPr>
              <a:spcAft>
                <a:spcPts val="780"/>
              </a:spcAft>
              <a:defRPr sz="1300" b="0">
                <a:solidFill>
                  <a:srgbClr val="767676"/>
                </a:solidFill>
                <a:latin typeface="Calibri"/>
              </a:defRPr>
            </a:pPr>
            <a:r>
              <a:t>Prepared for Executive Leadership  |  March 2026</a:t>
            </a:r>
          </a:p>
          <a:p>
            <a:pPr>
              <a:spcAft>
                <a:spcPts val="360"/>
              </a:spcAft>
              <a:defRPr sz="600" b="0">
                <a:solidFill>
                  <a:srgbClr val="767676"/>
                </a:solidFill>
                <a:latin typeface="Calibri"/>
              </a:defRPr>
            </a:pPr>
          </a:p>
          <a:p>
            <a:pPr>
              <a:spcAft>
                <a:spcPts val="780"/>
              </a:spcAft>
              <a:defRPr sz="1300" b="0">
                <a:solidFill>
                  <a:srgbClr val="767676"/>
                </a:solidFill>
                <a:latin typeface="Calibri"/>
              </a:defRPr>
            </a:pPr>
            <a:r>
              <a:t>Donovan Palmer, Ed Kreienberg, Will Zheng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57607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AIML 950  |  Human and Machine Intelligence  |  Northwestern Kellogg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SRAM makes the parts that make bikes go, stop, and shift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767676"/>
                </a:solidFill>
                <a:latin typeface="Calibri"/>
              </a:defRPr>
            </a:pPr>
            <a:r>
              <a:t>A $1B+ company headquartered in Chicago, powering bikes from weekend rides to the Tour de France.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1592580" cy="2194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194560"/>
            <a:ext cx="15925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SRAM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514600"/>
            <a:ext cx="15925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1C1C1E"/>
                </a:solidFill>
                <a:latin typeface="Calibri"/>
              </a:defRPr>
            </a:pPr>
            <a:r>
              <a:t>Drivetrains + Braking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017520"/>
            <a:ext cx="13182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Gears, chains, and disc</a:t>
            </a:r>
            <a:br/>
            <a:r>
              <a:t>brakes for every bike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552700" y="2011680"/>
            <a:ext cx="1592580" cy="2194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552700" y="2194560"/>
            <a:ext cx="15925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RockShox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52700" y="2514600"/>
            <a:ext cx="15925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1C1C1E"/>
                </a:solidFill>
                <a:latin typeface="Calibri"/>
              </a:defRPr>
            </a:pPr>
            <a:r>
              <a:t>Suspension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89860" y="3017520"/>
            <a:ext cx="13182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Forks and shocks that</a:t>
            </a:r>
            <a:br/>
            <a:r>
              <a:t>absorb trail impacts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73880" y="2011680"/>
            <a:ext cx="1592580" cy="2194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73880" y="2194560"/>
            <a:ext cx="15925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Zipp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3880" y="2514600"/>
            <a:ext cx="15925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1C1C1E"/>
                </a:solidFill>
                <a:latin typeface="Calibri"/>
              </a:defRPr>
            </a:pPr>
            <a:r>
              <a:t>Wheels + Cockpit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11040" y="3017520"/>
            <a:ext cx="13182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Aero wheels, handlebars,</a:t>
            </a:r>
            <a:br/>
            <a:r>
              <a:t>and stems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95060" y="2011680"/>
            <a:ext cx="1592580" cy="2194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95060" y="2194560"/>
            <a:ext cx="15925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Quarq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95060" y="2514600"/>
            <a:ext cx="15925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1C1C1E"/>
                </a:solidFill>
                <a:latin typeface="Calibri"/>
              </a:defRPr>
            </a:pPr>
            <a:r>
              <a:t>Power Meters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32220" y="3017520"/>
            <a:ext cx="13182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Sensors that measure</a:t>
            </a:r>
            <a:br/>
            <a:r>
              <a:t>rider output in watts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16240" y="2011680"/>
            <a:ext cx="1592580" cy="2194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16240" y="2194560"/>
            <a:ext cx="15925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Hammerhead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16240" y="2514600"/>
            <a:ext cx="15925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1C1C1E"/>
                </a:solidFill>
                <a:latin typeface="Calibri"/>
              </a:defRPr>
            </a:pPr>
            <a:r>
              <a:t>GPS Bike Computer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53400" y="3017520"/>
            <a:ext cx="13182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On-bike computer for</a:t>
            </a:r>
            <a:br/>
            <a:r>
              <a:t>navigation and training data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837420" y="2011680"/>
            <a:ext cx="1592580" cy="2194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37420" y="2194560"/>
            <a:ext cx="15925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TIME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37420" y="2514600"/>
            <a:ext cx="15925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1C1C1E"/>
                </a:solidFill>
                <a:latin typeface="Calibri"/>
              </a:defRPr>
            </a:pPr>
            <a:r>
              <a:t>Pedals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974580" y="3017520"/>
            <a:ext cx="13182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Clip-in pedal systems</a:t>
            </a:r>
            <a:br/>
            <a:r>
              <a:t>for road and mountain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457200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 i="0">
                <a:solidFill>
                  <a:srgbClr val="3A3A3C"/>
                </a:solidFill>
                <a:latin typeface="Calibri"/>
              </a:defRPr>
            </a:pPr>
            <a:r>
              <a:t>6 brands. 1 connected ecosystem. From weekend riders to Tour de France pros.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WHAT 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SRAM's connected ecosystem is unmatched in cycling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2560320" cy="1143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0020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REVENUE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182880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$1B+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28600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Private, Chicago-founded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0439" y="1463040"/>
            <a:ext cx="2560320" cy="1143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49039" y="160020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BRANDS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182880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228600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Integrated portfolio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59" y="1463040"/>
            <a:ext cx="2560320" cy="1143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59" y="160020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MTB SHARE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7959" y="182880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#1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59" y="228600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Market leader globally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98280" y="1463040"/>
            <a:ext cx="2560320" cy="1143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26880" y="160020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TRUSTPILOT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26880" y="182880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C43B4F"/>
                </a:solidFill>
                <a:latin typeface="Calibri"/>
              </a:defRPr>
            </a:pPr>
            <a:r>
              <a:t>1.6 / 5.0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26880" y="228600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Support-driven churn risk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3017520"/>
            <a:ext cx="1691640" cy="777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3090672"/>
            <a:ext cx="1417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SRAM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3383280"/>
            <a:ext cx="1417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Drivetrains + Braking</a:t>
            </a:r>
          </a:p>
        </p:txBody>
      </p:sp>
      <p:sp>
        <p:nvSpPr>
          <p:cNvPr id="24" name="Isosceles Triangle 23"/>
          <p:cNvSpPr/>
          <p:nvPr/>
        </p:nvSpPr>
        <p:spPr>
          <a:xfrm rot="5400000">
            <a:off x="2441448" y="329184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2606039" y="3017520"/>
            <a:ext cx="1691640" cy="777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43199" y="3090672"/>
            <a:ext cx="1417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RockShox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43199" y="3383280"/>
            <a:ext cx="1417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Suspension</a:t>
            </a:r>
          </a:p>
        </p:txBody>
      </p:sp>
      <p:sp>
        <p:nvSpPr>
          <p:cNvPr id="28" name="Isosceles Triangle 27"/>
          <p:cNvSpPr/>
          <p:nvPr/>
        </p:nvSpPr>
        <p:spPr>
          <a:xfrm rot="5400000">
            <a:off x="4315967" y="329184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480559" y="3017520"/>
            <a:ext cx="1691640" cy="777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17719" y="3090672"/>
            <a:ext cx="1417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Zipp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17719" y="3383280"/>
            <a:ext cx="1417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Wheels + Cockpit</a:t>
            </a:r>
          </a:p>
        </p:txBody>
      </p:sp>
      <p:sp>
        <p:nvSpPr>
          <p:cNvPr id="32" name="Isosceles Triangle 31"/>
          <p:cNvSpPr/>
          <p:nvPr/>
        </p:nvSpPr>
        <p:spPr>
          <a:xfrm rot="5400000">
            <a:off x="6190487" y="329184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355079" y="3017520"/>
            <a:ext cx="1691640" cy="777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92239" y="3090672"/>
            <a:ext cx="1417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Quarq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92239" y="3383280"/>
            <a:ext cx="1417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Power Meters</a:t>
            </a:r>
          </a:p>
        </p:txBody>
      </p:sp>
      <p:sp>
        <p:nvSpPr>
          <p:cNvPr id="36" name="Isosceles Triangle 35"/>
          <p:cNvSpPr/>
          <p:nvPr/>
        </p:nvSpPr>
        <p:spPr>
          <a:xfrm rot="5400000">
            <a:off x="8065007" y="329184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8229600" y="3017520"/>
            <a:ext cx="1691640" cy="777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366760" y="3090672"/>
            <a:ext cx="1417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Hammerhead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66760" y="3383280"/>
            <a:ext cx="1417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GPS Bike Computer</a:t>
            </a:r>
          </a:p>
        </p:txBody>
      </p:sp>
      <p:sp>
        <p:nvSpPr>
          <p:cNvPr id="40" name="Isosceles Triangle 39"/>
          <p:cNvSpPr/>
          <p:nvPr/>
        </p:nvSpPr>
        <p:spPr>
          <a:xfrm rot="5400000">
            <a:off x="9939528" y="329184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10104120" y="3017520"/>
            <a:ext cx="1691640" cy="777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241280" y="3090672"/>
            <a:ext cx="1417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TIME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41280" y="3383280"/>
            <a:ext cx="1417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Pedals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31520" y="4114800"/>
            <a:ext cx="11064240" cy="3200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97280" y="4133087"/>
            <a:ext cx="10332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AXS Wireless Ecosystem  |  All 6 brands connect wirelessly and share data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31520" y="4846320"/>
            <a:ext cx="11064240" cy="777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31520" y="4846320"/>
            <a:ext cx="50800" cy="777240"/>
          </a:xfrm>
          <a:prstGeom prst="rect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51560" y="493776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1">
                <a:solidFill>
                  <a:srgbClr val="3A3A3C"/>
                </a:solidFill>
                <a:latin typeface="Calibri"/>
              </a:defRPr>
            </a:pPr>
            <a:r>
              <a:t>“A rider on Shimano [SRAM's largest competitor] uses the app to check if parts fit. A Hammerhead rider uses it to train, navigate, and talk to every component on the bike. That is a fundamentally different data relationship.”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51560" y="5349240"/>
            <a:ext cx="10515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Jordan Hartsell, VP Digital Products, SRAM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31520" y="5943600"/>
            <a:ext cx="10515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Sources: MTB share per Bicycle Retailer industry analysis; Trustpilot rating as of Feb 2026 (n=180+ reviews)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WHERE AI ADDS VALUE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12 AI initiatives across four business functions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AI opportunities exist across every function at SRAM.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1600200"/>
            <a:ext cx="2926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Quick Win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57800" y="1600200"/>
            <a:ext cx="2926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Medium Effort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1600200"/>
            <a:ext cx="2926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Long-Term Bet</a:t>
            </a:r>
          </a:p>
        </p:txBody>
      </p:sp>
      <p:sp>
        <p:nvSpPr>
          <p:cNvPr id="9" name="Rectangle 8"/>
          <p:cNvSpPr/>
          <p:nvPr/>
        </p:nvSpPr>
        <p:spPr>
          <a:xfrm>
            <a:off x="2194560" y="1801368"/>
            <a:ext cx="9189720" cy="25400"/>
          </a:xfrm>
          <a:prstGeom prst="rect">
            <a:avLst/>
          </a:prstGeom>
          <a:solidFill>
            <a:srgbClr val="E0E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Isosceles Triangle 9"/>
          <p:cNvSpPr/>
          <p:nvPr/>
        </p:nvSpPr>
        <p:spPr>
          <a:xfrm rot="5400000">
            <a:off x="11338560" y="1746504"/>
            <a:ext cx="137160" cy="128016"/>
          </a:xfrm>
          <a:prstGeom prst="triangle">
            <a:avLst/>
          </a:prstGeom>
          <a:solidFill>
            <a:srgbClr val="E0E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1920240"/>
            <a:ext cx="50800" cy="822960"/>
          </a:xfrm>
          <a:prstGeom prst="rect">
            <a:avLst/>
          </a:prstGeom>
          <a:solidFill>
            <a:srgbClr val="7A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148840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7A5C8A"/>
                </a:solidFill>
                <a:latin typeface="Calibri"/>
              </a:defRPr>
            </a:pPr>
            <a:r>
              <a:t>ENGINEERING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194560" y="192024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77440" y="21488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Generative Design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77440" y="24231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Physical testing is slow and expensive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257800" y="192024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40680" y="21488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AXS Intelligence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24231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Telemetry data is collected but unused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321040" y="192024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03920" y="21488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AI-Tuned Components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4231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Suspension and shifting are static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WHERE AI ADDS VALUE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12 AI initiatives across four business functions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AI opportunities exist across every function at SRAM.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1600200"/>
            <a:ext cx="2926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Quick Win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57800" y="1600200"/>
            <a:ext cx="2926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Medium Effort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1600200"/>
            <a:ext cx="2926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Long-Term Bet</a:t>
            </a:r>
          </a:p>
        </p:txBody>
      </p:sp>
      <p:sp>
        <p:nvSpPr>
          <p:cNvPr id="9" name="Rectangle 8"/>
          <p:cNvSpPr/>
          <p:nvPr/>
        </p:nvSpPr>
        <p:spPr>
          <a:xfrm>
            <a:off x="2194560" y="1801368"/>
            <a:ext cx="9189720" cy="25400"/>
          </a:xfrm>
          <a:prstGeom prst="rect">
            <a:avLst/>
          </a:prstGeom>
          <a:solidFill>
            <a:srgbClr val="E0E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Isosceles Triangle 9"/>
          <p:cNvSpPr/>
          <p:nvPr/>
        </p:nvSpPr>
        <p:spPr>
          <a:xfrm rot="5400000">
            <a:off x="11338560" y="1746504"/>
            <a:ext cx="137160" cy="128016"/>
          </a:xfrm>
          <a:prstGeom prst="triangle">
            <a:avLst/>
          </a:prstGeom>
          <a:solidFill>
            <a:srgbClr val="E0E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1920240"/>
            <a:ext cx="50800" cy="822960"/>
          </a:xfrm>
          <a:prstGeom prst="rect">
            <a:avLst/>
          </a:prstGeom>
          <a:solidFill>
            <a:srgbClr val="7A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148840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7A5C8A"/>
                </a:solidFill>
                <a:latin typeface="Calibri"/>
              </a:defRPr>
            </a:pPr>
            <a:r>
              <a:t>ENGINEERING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194560" y="192024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77440" y="21488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Generative Design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77440" y="24231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Physical testing is slow and expensive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257800" y="192024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40680" y="21488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AXS Intelligence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24231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Telemetry data is collected but unused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321040" y="192024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03920" y="21488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AI-Tuned Components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4231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Suspension and shifting are static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2971800"/>
            <a:ext cx="50800" cy="822960"/>
          </a:xfrm>
          <a:prstGeom prst="rect">
            <a:avLst/>
          </a:prstGeom>
          <a:solidFill>
            <a:srgbClr val="8B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3200400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8B6D2E"/>
                </a:solidFill>
                <a:latin typeface="Calibri"/>
              </a:defRPr>
            </a:pPr>
            <a:r>
              <a:t>SALES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194560" y="297180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377440" y="32004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OEM Proposal Automation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77440" y="34747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Proposal cycles are slow, manual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257800" y="297180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40680" y="32004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Part Recommendations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40680" y="34747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No guided upsell at point of service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321040" y="297180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503920" y="32004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DTC Personalization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03920" y="34747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Velocio has no targeting capability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WHERE AI ADDS VALUE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12 AI initiatives across four business functions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AI opportunities exist across every function at SRAM.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1600200"/>
            <a:ext cx="2926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Quick Win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57800" y="1600200"/>
            <a:ext cx="2926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Medium Effort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1600200"/>
            <a:ext cx="2926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Long-Term Bet</a:t>
            </a:r>
          </a:p>
        </p:txBody>
      </p:sp>
      <p:sp>
        <p:nvSpPr>
          <p:cNvPr id="9" name="Rectangle 8"/>
          <p:cNvSpPr/>
          <p:nvPr/>
        </p:nvSpPr>
        <p:spPr>
          <a:xfrm>
            <a:off x="2194560" y="1801368"/>
            <a:ext cx="9189720" cy="25400"/>
          </a:xfrm>
          <a:prstGeom prst="rect">
            <a:avLst/>
          </a:prstGeom>
          <a:solidFill>
            <a:srgbClr val="E0E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Isosceles Triangle 9"/>
          <p:cNvSpPr/>
          <p:nvPr/>
        </p:nvSpPr>
        <p:spPr>
          <a:xfrm rot="5400000">
            <a:off x="11338560" y="1746504"/>
            <a:ext cx="137160" cy="128016"/>
          </a:xfrm>
          <a:prstGeom prst="triangle">
            <a:avLst/>
          </a:prstGeom>
          <a:solidFill>
            <a:srgbClr val="E0E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1920240"/>
            <a:ext cx="50800" cy="822960"/>
          </a:xfrm>
          <a:prstGeom prst="rect">
            <a:avLst/>
          </a:prstGeom>
          <a:solidFill>
            <a:srgbClr val="7A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148840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7A5C8A"/>
                </a:solidFill>
                <a:latin typeface="Calibri"/>
              </a:defRPr>
            </a:pPr>
            <a:r>
              <a:t>ENGINEERING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194560" y="192024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77440" y="21488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Generative Design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77440" y="24231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Physical testing is slow and expensive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257800" y="192024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40680" y="21488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AXS Intelligence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24231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Telemetry data is collected but unused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321040" y="192024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03920" y="21488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AI-Tuned Components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4231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Suspension and shifting are static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2971800"/>
            <a:ext cx="50800" cy="822960"/>
          </a:xfrm>
          <a:prstGeom prst="rect">
            <a:avLst/>
          </a:prstGeom>
          <a:solidFill>
            <a:srgbClr val="8B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3200400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8B6D2E"/>
                </a:solidFill>
                <a:latin typeface="Calibri"/>
              </a:defRPr>
            </a:pPr>
            <a:r>
              <a:t>SALES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194560" y="297180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377440" y="32004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OEM Proposal Automation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77440" y="34747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Proposal cycles are slow, manual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257800" y="297180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40680" y="32004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Part Recommendations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40680" y="34747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No guided upsell at point of service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321040" y="297180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503920" y="32004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DTC Personalization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03920" y="34747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Velocio has no targeting capability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31520" y="4023360"/>
            <a:ext cx="50800" cy="822960"/>
          </a:xfrm>
          <a:prstGeom prst="rect">
            <a:avLst/>
          </a:prstGeom>
          <a:solidFill>
            <a:srgbClr val="5B8C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68680" y="4251960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5B8C5A"/>
                </a:solidFill>
                <a:latin typeface="Calibri"/>
              </a:defRPr>
            </a:pPr>
            <a:r>
              <a:t>SUPPLY CHAIN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194560" y="402336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377440" y="42519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Demand Forecasting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377440" y="452628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No forecasting system exists today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257800" y="402336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40680" y="42519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Inventory Allocation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40680" y="452628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Stockouts and rush shipping losses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321040" y="402336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503920" y="42519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Customer Analytics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03920" y="452628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Shopify data is siloed, unused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WHERE AI ADDS VALUE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12 AI initiatives across four business functions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Start where domain knowledge is high and outcomes are measurable. Support is the proving ground for everything that follows.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1600200"/>
            <a:ext cx="2926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Quick Win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57800" y="1600200"/>
            <a:ext cx="2926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Medium Effort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1600200"/>
            <a:ext cx="2926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Long-Term Bet</a:t>
            </a:r>
          </a:p>
        </p:txBody>
      </p:sp>
      <p:sp>
        <p:nvSpPr>
          <p:cNvPr id="9" name="Rectangle 8"/>
          <p:cNvSpPr/>
          <p:nvPr/>
        </p:nvSpPr>
        <p:spPr>
          <a:xfrm>
            <a:off x="2194560" y="1801368"/>
            <a:ext cx="9189720" cy="25400"/>
          </a:xfrm>
          <a:prstGeom prst="rect">
            <a:avLst/>
          </a:prstGeom>
          <a:solidFill>
            <a:srgbClr val="E0E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Isosceles Triangle 9"/>
          <p:cNvSpPr/>
          <p:nvPr/>
        </p:nvSpPr>
        <p:spPr>
          <a:xfrm rot="5400000">
            <a:off x="11338560" y="1746504"/>
            <a:ext cx="137160" cy="128016"/>
          </a:xfrm>
          <a:prstGeom prst="triangle">
            <a:avLst/>
          </a:prstGeom>
          <a:solidFill>
            <a:srgbClr val="E0E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1920240"/>
            <a:ext cx="50800" cy="822960"/>
          </a:xfrm>
          <a:prstGeom prst="rect">
            <a:avLst/>
          </a:prstGeom>
          <a:solidFill>
            <a:srgbClr val="7A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148840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7A5C8A"/>
                </a:solidFill>
                <a:latin typeface="Calibri"/>
              </a:defRPr>
            </a:pPr>
            <a:r>
              <a:t>ENGINEERING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194560" y="192024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77440" y="21488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Generative Design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77440" y="24231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Physical testing is slow and expensive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257800" y="192024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40680" y="21488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AXS Intelligence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24231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Telemetry data is collected but unused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321040" y="192024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03920" y="21488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AI-Tuned Components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4231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Suspension and shifting are static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2971800"/>
            <a:ext cx="50800" cy="822960"/>
          </a:xfrm>
          <a:prstGeom prst="rect">
            <a:avLst/>
          </a:prstGeom>
          <a:solidFill>
            <a:srgbClr val="8B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3200400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8B6D2E"/>
                </a:solidFill>
                <a:latin typeface="Calibri"/>
              </a:defRPr>
            </a:pPr>
            <a:r>
              <a:t>SALES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194560" y="297180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377440" y="32004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OEM Proposal Automation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77440" y="34747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Proposal cycles are slow, manual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257800" y="297180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40680" y="32004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Part Recommendations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40680" y="34747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No guided upsell at point of service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321040" y="297180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503920" y="32004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DTC Personalization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03920" y="34747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Velocio has no targeting capability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31520" y="4023360"/>
            <a:ext cx="50800" cy="822960"/>
          </a:xfrm>
          <a:prstGeom prst="rect">
            <a:avLst/>
          </a:prstGeom>
          <a:solidFill>
            <a:srgbClr val="5B8C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68680" y="4251960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5B8C5A"/>
                </a:solidFill>
                <a:latin typeface="Calibri"/>
              </a:defRPr>
            </a:pPr>
            <a:r>
              <a:t>SUPPLY CHAIN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194560" y="402336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377440" y="42519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Demand Forecasting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377440" y="452628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No forecasting system exists today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257800" y="402336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40680" y="42519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Inventory Allocation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40680" y="452628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Stockouts and rush shipping losses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321040" y="402336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503920" y="42519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Customer Analytics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03920" y="452628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Shopify data is siloed, unused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31520" y="5074919"/>
            <a:ext cx="50800" cy="822960"/>
          </a:xfrm>
          <a:prstGeom prst="rect">
            <a:avLst/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68680" y="5303519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2D5F8A"/>
                </a:solidFill>
                <a:latin typeface="Calibri"/>
              </a:defRPr>
            </a:pPr>
            <a:r>
              <a:t>SUPPORT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194560" y="5074919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DF0F2"/>
          </a:solidFill>
          <a:ln w="12700">
            <a:solidFill>
              <a:srgbClr val="E51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194560" y="5074919"/>
            <a:ext cx="50800" cy="82296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377440" y="5148071"/>
            <a:ext cx="2286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E51937"/>
                </a:solidFill>
                <a:latin typeface="Calibri"/>
              </a:defRPr>
            </a:pPr>
            <a:r>
              <a:t>RECOMMENDED PILOT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377440" y="5303519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AI Support Agent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40" y="5577839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70% of dealer questions are repetitive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257800" y="5074919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440680" y="5303519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Warranty Automation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440680" y="5577839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Fraudulent and mis-filed claims cost time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8321040" y="5074919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503920" y="5303519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Compatibility Assistant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503920" y="5577839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Riders get wrong parts, return them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94360" y="5001767"/>
            <a:ext cx="10927080" cy="969264"/>
          </a:xfrm>
          <a:prstGeom prst="rect">
            <a:avLst/>
          </a:prstGeom>
          <a:noFill/>
          <a:ln w="31750">
            <a:solidFill>
              <a:srgbClr val="2D5F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784080" y="4782311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 i="0">
                <a:solidFill>
                  <a:srgbClr val="2D5F8A"/>
                </a:solidFill>
                <a:latin typeface="Calibri"/>
              </a:defRPr>
            </a:pPr>
            <a:r>
              <a:t>START HERE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Support quality drives churn, not product quality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Riders love SRAM hardware. They struggle with firmware updates, part compatibility, and warranty resolution.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32918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148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TRUSTPILOT RATING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377440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C43B4F"/>
                </a:solidFill>
                <a:latin typeface="Calibri"/>
              </a:defRPr>
            </a:pPr>
            <a:r>
              <a:t>1.6 / 5.0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8346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Warranty friction and support delays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0560" y="2011680"/>
            <a:ext cx="32918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09160" y="2148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AUTOMATABLE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09160" y="2377440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~70%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09160" y="28346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Questions follow documented patterns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0" y="2011680"/>
            <a:ext cx="32918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58200" y="2148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TOP COMPLAINTS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58200" y="2377440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C43B4F"/>
                </a:solidFill>
                <a:latin typeface="Calibri"/>
              </a:defRPr>
            </a:pPr>
            <a:r>
              <a:t>Firmware + Pairing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8346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Reddit, app stores, Trustpilot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Support quality drives churn, not product quality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Riders love SRAM hardware. They struggle with firmware updates, part compatibility, and warranty resolution.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32918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148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TRUSTPILOT RATING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377440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C43B4F"/>
                </a:solidFill>
                <a:latin typeface="Calibri"/>
              </a:defRPr>
            </a:pPr>
            <a:r>
              <a:t>1.6 / 5.0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8346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Warranty friction and support delays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0560" y="2011680"/>
            <a:ext cx="32918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09160" y="2148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AUTOMATABLE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09160" y="2377440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~70%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09160" y="28346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Questions follow documented patterns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0" y="2011680"/>
            <a:ext cx="32918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58200" y="2148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TOP COMPLAINTS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58200" y="2377440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C43B4F"/>
                </a:solidFill>
                <a:latin typeface="Calibri"/>
              </a:defRPr>
            </a:pPr>
            <a:r>
              <a:t>Firmware + Pairing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8346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Reddit, app stores, Trustpilot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4389120"/>
            <a:ext cx="10789920" cy="777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31520" y="4389120"/>
            <a:ext cx="50800" cy="777240"/>
          </a:xfrm>
          <a:prstGeom prst="rect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1560" y="4480560"/>
            <a:ext cx="10241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1">
                <a:solidFill>
                  <a:srgbClr val="3A3A3C"/>
                </a:solidFill>
                <a:latin typeface="Calibri"/>
              </a:defRPr>
            </a:pPr>
            <a:r>
              <a:t>“The first question I ask anyone skeptical about AI is: do you want to spend your day searching a 200-page compatibility PDF, or do you want to spend it talking to dealers?”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" y="4892040"/>
            <a:ext cx="10241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Jordan Hartsell, VP Digital Products, SRAM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THE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A 90-day pilot with human approval on every response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1965960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783080"/>
            <a:ext cx="365760" cy="365760"/>
          </a:xfrm>
          <a:prstGeom prst="ellipse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5F5F3"/>
                </a:solidFill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286000"/>
            <a:ext cx="1691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TICKET 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606040"/>
            <a:ext cx="1691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3A3A3C"/>
                </a:solidFill>
                <a:latin typeface="Calibri"/>
              </a:defRPr>
            </a:pPr>
            <a:r>
              <a:t>Dealer or rider</a:t>
            </a:r>
            <a:br/>
            <a:r>
              <a:t>submits via Zendesk</a:t>
            </a:r>
          </a:p>
        </p:txBody>
      </p:sp>
      <p:sp>
        <p:nvSpPr>
          <p:cNvPr id="9" name="Isosceles Triangle 8"/>
          <p:cNvSpPr/>
          <p:nvPr/>
        </p:nvSpPr>
        <p:spPr>
          <a:xfrm rot="5400000">
            <a:off x="2715768" y="246888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971800" y="1645920"/>
            <a:ext cx="1965960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3108960" y="1783080"/>
            <a:ext cx="365760" cy="365760"/>
          </a:xfrm>
          <a:prstGeom prst="ellipse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5F5F3"/>
                </a:solidFill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2286000"/>
            <a:ext cx="1691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AI RETRIEVES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08960" y="2606040"/>
            <a:ext cx="1691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3A3A3C"/>
                </a:solidFill>
                <a:latin typeface="Calibri"/>
              </a:defRPr>
            </a:pPr>
            <a:r>
              <a:t>Amazon Kendra searches</a:t>
            </a:r>
            <a:br/>
            <a:r>
              <a:t>approved documentation</a:t>
            </a:r>
          </a:p>
        </p:txBody>
      </p:sp>
      <p:sp>
        <p:nvSpPr>
          <p:cNvPr id="14" name="Isosceles Triangle 13"/>
          <p:cNvSpPr/>
          <p:nvPr/>
        </p:nvSpPr>
        <p:spPr>
          <a:xfrm rot="5400000">
            <a:off x="4956048" y="246888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212080" y="1645920"/>
            <a:ext cx="1965960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349240" y="1783080"/>
            <a:ext cx="365760" cy="365760"/>
          </a:xfrm>
          <a:prstGeom prst="ellipse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5F5F3"/>
                </a:solidFill>
              </a:defRPr>
            </a:pPr>
            <a: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49240" y="2286000"/>
            <a:ext cx="1691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AI DRAFTS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49240" y="2606040"/>
            <a:ext cx="1691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3A3A3C"/>
                </a:solidFill>
                <a:latin typeface="Calibri"/>
              </a:defRPr>
            </a:pPr>
            <a:r>
              <a:t>Amazon Bedrock drafts</a:t>
            </a:r>
            <a:br/>
            <a:r>
              <a:t>response from knowledge base</a:t>
            </a:r>
          </a:p>
        </p:txBody>
      </p:sp>
      <p:sp>
        <p:nvSpPr>
          <p:cNvPr id="19" name="Isosceles Triangle 18"/>
          <p:cNvSpPr/>
          <p:nvPr/>
        </p:nvSpPr>
        <p:spPr>
          <a:xfrm rot="5400000">
            <a:off x="7196328" y="246888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452360" y="1645920"/>
            <a:ext cx="1965960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589520" y="1783080"/>
            <a:ext cx="365760" cy="365760"/>
          </a:xfrm>
          <a:prstGeom prst="ellipse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5F5F3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89520" y="2286000"/>
            <a:ext cx="1691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HUMAN REVIEWS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89520" y="2606040"/>
            <a:ext cx="1691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3A3A3C"/>
                </a:solidFill>
                <a:latin typeface="Calibri"/>
              </a:defRPr>
            </a:pPr>
            <a:r>
              <a:t>Agent approves</a:t>
            </a:r>
            <a:br/>
            <a:r>
              <a:t>before sending</a:t>
            </a:r>
          </a:p>
        </p:txBody>
      </p:sp>
      <p:sp>
        <p:nvSpPr>
          <p:cNvPr id="24" name="Isosceles Triangle 23"/>
          <p:cNvSpPr/>
          <p:nvPr/>
        </p:nvSpPr>
        <p:spPr>
          <a:xfrm rot="5400000">
            <a:off x="9436608" y="246888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692640" y="1645920"/>
            <a:ext cx="1965960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829800" y="1783080"/>
            <a:ext cx="365760" cy="365760"/>
          </a:xfrm>
          <a:prstGeom prst="ellipse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5F5F3"/>
                </a:solidFill>
              </a:defRPr>
            </a:pPr>
            <a: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29800" y="2286000"/>
            <a:ext cx="1691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QUALITY LOGGED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29800" y="2606040"/>
            <a:ext cx="1691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3A3A3C"/>
                </a:solidFill>
                <a:latin typeface="Calibri"/>
              </a:defRPr>
            </a:pPr>
            <a:r>
              <a:t>Metrics tracked;</a:t>
            </a:r>
            <a:br/>
            <a:r>
              <a:t>weekly review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THE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A 90-day pilot with human approval on every response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1965960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783080"/>
            <a:ext cx="365760" cy="365760"/>
          </a:xfrm>
          <a:prstGeom prst="ellipse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5F5F3"/>
                </a:solidFill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286000"/>
            <a:ext cx="1691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TICKET 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606040"/>
            <a:ext cx="1691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3A3A3C"/>
                </a:solidFill>
                <a:latin typeface="Calibri"/>
              </a:defRPr>
            </a:pPr>
            <a:r>
              <a:t>Dealer or rider</a:t>
            </a:r>
            <a:br/>
            <a:r>
              <a:t>submits via Zendesk</a:t>
            </a:r>
          </a:p>
        </p:txBody>
      </p:sp>
      <p:sp>
        <p:nvSpPr>
          <p:cNvPr id="9" name="Isosceles Triangle 8"/>
          <p:cNvSpPr/>
          <p:nvPr/>
        </p:nvSpPr>
        <p:spPr>
          <a:xfrm rot="5400000">
            <a:off x="2715768" y="246888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971800" y="1645920"/>
            <a:ext cx="1965960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3108960" y="1783080"/>
            <a:ext cx="365760" cy="365760"/>
          </a:xfrm>
          <a:prstGeom prst="ellipse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5F5F3"/>
                </a:solidFill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2286000"/>
            <a:ext cx="1691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AI RETRIEVES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08960" y="2606040"/>
            <a:ext cx="1691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3A3A3C"/>
                </a:solidFill>
                <a:latin typeface="Calibri"/>
              </a:defRPr>
            </a:pPr>
            <a:r>
              <a:t>Amazon Kendra searches</a:t>
            </a:r>
            <a:br/>
            <a:r>
              <a:t>approved documentation</a:t>
            </a:r>
          </a:p>
        </p:txBody>
      </p:sp>
      <p:sp>
        <p:nvSpPr>
          <p:cNvPr id="14" name="Isosceles Triangle 13"/>
          <p:cNvSpPr/>
          <p:nvPr/>
        </p:nvSpPr>
        <p:spPr>
          <a:xfrm rot="5400000">
            <a:off x="4956048" y="246888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212080" y="1645920"/>
            <a:ext cx="1965960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349240" y="1783080"/>
            <a:ext cx="365760" cy="365760"/>
          </a:xfrm>
          <a:prstGeom prst="ellipse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5F5F3"/>
                </a:solidFill>
              </a:defRPr>
            </a:pPr>
            <a: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49240" y="2286000"/>
            <a:ext cx="1691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AI DRAFTS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49240" y="2606040"/>
            <a:ext cx="1691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3A3A3C"/>
                </a:solidFill>
                <a:latin typeface="Calibri"/>
              </a:defRPr>
            </a:pPr>
            <a:r>
              <a:t>Amazon Bedrock drafts</a:t>
            </a:r>
            <a:br/>
            <a:r>
              <a:t>response from knowledge base</a:t>
            </a:r>
          </a:p>
        </p:txBody>
      </p:sp>
      <p:sp>
        <p:nvSpPr>
          <p:cNvPr id="19" name="Isosceles Triangle 18"/>
          <p:cNvSpPr/>
          <p:nvPr/>
        </p:nvSpPr>
        <p:spPr>
          <a:xfrm rot="5400000">
            <a:off x="7196328" y="246888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452360" y="1645920"/>
            <a:ext cx="1965960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589520" y="1783080"/>
            <a:ext cx="365760" cy="365760"/>
          </a:xfrm>
          <a:prstGeom prst="ellipse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5F5F3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89520" y="2286000"/>
            <a:ext cx="1691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HUMAN REVIEWS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89520" y="2606040"/>
            <a:ext cx="1691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3A3A3C"/>
                </a:solidFill>
                <a:latin typeface="Calibri"/>
              </a:defRPr>
            </a:pPr>
            <a:r>
              <a:t>Agent approves</a:t>
            </a:r>
            <a:br/>
            <a:r>
              <a:t>before sending</a:t>
            </a:r>
          </a:p>
        </p:txBody>
      </p:sp>
      <p:sp>
        <p:nvSpPr>
          <p:cNvPr id="24" name="Isosceles Triangle 23"/>
          <p:cNvSpPr/>
          <p:nvPr/>
        </p:nvSpPr>
        <p:spPr>
          <a:xfrm rot="5400000">
            <a:off x="9436608" y="246888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692640" y="1645920"/>
            <a:ext cx="1965960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829800" y="1783080"/>
            <a:ext cx="365760" cy="365760"/>
          </a:xfrm>
          <a:prstGeom prst="ellipse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5F5F3"/>
                </a:solidFill>
              </a:defRPr>
            </a:pPr>
            <a: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29800" y="2286000"/>
            <a:ext cx="1691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QUALITY LOGGED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29800" y="2606040"/>
            <a:ext cx="1691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3A3A3C"/>
                </a:solidFill>
                <a:latin typeface="Calibri"/>
              </a:defRPr>
            </a:pPr>
            <a:r>
              <a:t>Metrics tracked;</a:t>
            </a:r>
            <a:br/>
            <a:r>
              <a:t>weekly review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42062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AXS + Hammerhead support only  |  Human approval on every response  |  Weekly quality review with rollback trigger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31520" y="5029200"/>
            <a:ext cx="10789920" cy="502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31520" y="5029200"/>
            <a:ext cx="50800" cy="502920"/>
          </a:xfrm>
          <a:prstGeom prst="rect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51560" y="5120640"/>
            <a:ext cx="1024128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1">
                <a:solidFill>
                  <a:srgbClr val="3A3A3C"/>
                </a:solidFill>
                <a:latin typeface="Calibri"/>
              </a:defRPr>
            </a:pPr>
            <a:r>
              <a:t>“I would rather shut it down and restart than defend a mistake to Ken.”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" y="5257800"/>
            <a:ext cx="10241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Jordan Hartsell on the pull-the-plug criteria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THE GOALS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Five SMART goals define pilot success at day 90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Hartsell set the bar: "One workflow measurably faster, measurably more accurate, with no regression in dealer satisfaction scores."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685800"/>
          </a:xfrm>
          <a:prstGeom prst="roundRect">
            <a:avLst>
              <a:gd name="adj" fmla="val 2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05840" y="1938528"/>
            <a:ext cx="502920" cy="365760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G1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190195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C1C1E"/>
                </a:solidFill>
                <a:latin typeface="Calibri"/>
              </a:defRPr>
            </a:pPr>
            <a:r>
              <a:t>Cut first-response time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187452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E51937"/>
                </a:solidFill>
                <a:latin typeface="Calibri"/>
              </a:defRPr>
            </a:pPr>
            <a:r>
              <a:t>-40%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19659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767676"/>
                </a:solidFill>
                <a:latin typeface="Calibri"/>
              </a:defRPr>
            </a:pPr>
            <a:r>
              <a:t>Measured weekly vs. SLA baseline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THE GOALS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Five SMART goals define pilot success at day 90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Hartsell set the bar: "One workflow measurably faster, measurably more accurate, with no regression in dealer satisfaction scores."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685800"/>
          </a:xfrm>
          <a:prstGeom prst="roundRect">
            <a:avLst>
              <a:gd name="adj" fmla="val 2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05840" y="1938528"/>
            <a:ext cx="502920" cy="365760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G1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190195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C1C1E"/>
                </a:solidFill>
                <a:latin typeface="Calibri"/>
              </a:defRPr>
            </a:pPr>
            <a:r>
              <a:t>Cut first-response time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187452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E51937"/>
                </a:solidFill>
                <a:latin typeface="Calibri"/>
              </a:defRPr>
            </a:pPr>
            <a:r>
              <a:t>-40%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19659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767676"/>
                </a:solidFill>
                <a:latin typeface="Calibri"/>
              </a:defRPr>
            </a:pPr>
            <a:r>
              <a:t>Measured weekly vs. SLA baseline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5840" y="2715768"/>
            <a:ext cx="502920" cy="365760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G2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26791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C1C1E"/>
                </a:solidFill>
                <a:latin typeface="Calibri"/>
              </a:defRPr>
            </a:pPr>
            <a:r>
              <a:t>Resolve more tickets without escalation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265176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E51937"/>
                </a:solidFill>
                <a:latin typeface="Calibri"/>
              </a:defRPr>
            </a:pPr>
            <a:r>
              <a:t>+15 pts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0" y="27432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767676"/>
                </a:solidFill>
                <a:latin typeface="Calibri"/>
              </a:defRPr>
            </a:pPr>
            <a:r>
              <a:t>Measured weekly vs. current rate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THE GOALS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Five SMART goals define pilot success at day 90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Hartsell set the bar: "One workflow measurably faster, measurably more accurate, with no regression in dealer satisfaction scores."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685800"/>
          </a:xfrm>
          <a:prstGeom prst="roundRect">
            <a:avLst>
              <a:gd name="adj" fmla="val 2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05840" y="1938528"/>
            <a:ext cx="502920" cy="365760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G1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190195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C1C1E"/>
                </a:solidFill>
                <a:latin typeface="Calibri"/>
              </a:defRPr>
            </a:pPr>
            <a:r>
              <a:t>Cut first-response time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187452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E51937"/>
                </a:solidFill>
                <a:latin typeface="Calibri"/>
              </a:defRPr>
            </a:pPr>
            <a:r>
              <a:t>-40%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19659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767676"/>
                </a:solidFill>
                <a:latin typeface="Calibri"/>
              </a:defRPr>
            </a:pPr>
            <a:r>
              <a:t>Measured weekly vs. SLA baseline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5840" y="2715768"/>
            <a:ext cx="502920" cy="365760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G2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26791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C1C1E"/>
                </a:solidFill>
                <a:latin typeface="Calibri"/>
              </a:defRPr>
            </a:pPr>
            <a:r>
              <a:t>Resolve more tickets without escalation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265176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E51937"/>
                </a:solidFill>
                <a:latin typeface="Calibri"/>
              </a:defRPr>
            </a:pPr>
            <a:r>
              <a:t>+15 pts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0" y="27432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767676"/>
                </a:solidFill>
                <a:latin typeface="Calibri"/>
              </a:defRPr>
            </a:pPr>
            <a:r>
              <a:t>Measured weekly vs. current rate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337560"/>
            <a:ext cx="10698480" cy="685800"/>
          </a:xfrm>
          <a:prstGeom prst="roundRect">
            <a:avLst>
              <a:gd name="adj" fmla="val 2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005840" y="3493008"/>
            <a:ext cx="502920" cy="365760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G3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37360" y="345643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C1C1E"/>
                </a:solidFill>
                <a:latin typeface="Calibri"/>
              </a:defRPr>
            </a:pPr>
            <a:r>
              <a:t>AI draft acceptance rate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342900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E51937"/>
                </a:solidFill>
                <a:latin typeface="Calibri"/>
              </a:defRPr>
            </a:pPr>
            <a:r>
              <a:t>&gt;70%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35204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767676"/>
                </a:solidFill>
                <a:latin typeface="Calibri"/>
              </a:defRPr>
            </a:pPr>
            <a:r>
              <a:t>Below 50% at day 45 triggers scope review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THE GOALS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Five SMART goals define pilot success at day 90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Hartsell set the bar: "One workflow measurably faster, measurably more accurate, with no regression in dealer satisfaction scores."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685800"/>
          </a:xfrm>
          <a:prstGeom prst="roundRect">
            <a:avLst>
              <a:gd name="adj" fmla="val 2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05840" y="1938528"/>
            <a:ext cx="502920" cy="365760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G1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190195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C1C1E"/>
                </a:solidFill>
                <a:latin typeface="Calibri"/>
              </a:defRPr>
            </a:pPr>
            <a:r>
              <a:t>Cut first-response time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187452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E51937"/>
                </a:solidFill>
                <a:latin typeface="Calibri"/>
              </a:defRPr>
            </a:pPr>
            <a:r>
              <a:t>-40%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19659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767676"/>
                </a:solidFill>
                <a:latin typeface="Calibri"/>
              </a:defRPr>
            </a:pPr>
            <a:r>
              <a:t>Measured weekly vs. SLA baseline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5840" y="2715768"/>
            <a:ext cx="502920" cy="365760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G2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26791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C1C1E"/>
                </a:solidFill>
                <a:latin typeface="Calibri"/>
              </a:defRPr>
            </a:pPr>
            <a:r>
              <a:t>Resolve more tickets without escalation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265176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E51937"/>
                </a:solidFill>
                <a:latin typeface="Calibri"/>
              </a:defRPr>
            </a:pPr>
            <a:r>
              <a:t>+15 pts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0" y="27432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767676"/>
                </a:solidFill>
                <a:latin typeface="Calibri"/>
              </a:defRPr>
            </a:pPr>
            <a:r>
              <a:t>Measured weekly vs. current rate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337560"/>
            <a:ext cx="10698480" cy="685800"/>
          </a:xfrm>
          <a:prstGeom prst="roundRect">
            <a:avLst>
              <a:gd name="adj" fmla="val 2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005840" y="3493008"/>
            <a:ext cx="502920" cy="365760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G3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37360" y="345643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C1C1E"/>
                </a:solidFill>
                <a:latin typeface="Calibri"/>
              </a:defRPr>
            </a:pPr>
            <a:r>
              <a:t>AI draft acceptance rate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342900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E51937"/>
                </a:solidFill>
                <a:latin typeface="Calibri"/>
              </a:defRPr>
            </a:pPr>
            <a:r>
              <a:t>&gt;70%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35204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767676"/>
                </a:solidFill>
                <a:latin typeface="Calibri"/>
              </a:defRPr>
            </a:pPr>
            <a:r>
              <a:t>Below 50% at day 45 triggers scope review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05840" y="4270248"/>
            <a:ext cx="502920" cy="365760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G4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37360" y="42336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C1C1E"/>
                </a:solidFill>
                <a:latin typeface="Calibri"/>
              </a:defRPr>
            </a:pPr>
            <a:r>
              <a:t>Increase agent throughput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0" y="420624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E51937"/>
                </a:solidFill>
                <a:latin typeface="Calibri"/>
              </a:defRPr>
            </a:pPr>
            <a:r>
              <a:t>+25%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0" y="429768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767676"/>
                </a:solidFill>
                <a:latin typeface="Calibri"/>
              </a:defRPr>
            </a:pPr>
            <a:r>
              <a:t>Tickets handled per agent per day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THE GOALS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Five SMART goals define pilot success at day 90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Hartsell set the bar: "One workflow measurably faster, measurably more accurate, with no regression in dealer satisfaction scores."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685800"/>
          </a:xfrm>
          <a:prstGeom prst="roundRect">
            <a:avLst>
              <a:gd name="adj" fmla="val 2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05840" y="1938528"/>
            <a:ext cx="502920" cy="365760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G1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190195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C1C1E"/>
                </a:solidFill>
                <a:latin typeface="Calibri"/>
              </a:defRPr>
            </a:pPr>
            <a:r>
              <a:t>Cut first-response time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187452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E51937"/>
                </a:solidFill>
                <a:latin typeface="Calibri"/>
              </a:defRPr>
            </a:pPr>
            <a:r>
              <a:t>-40%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19659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767676"/>
                </a:solidFill>
                <a:latin typeface="Calibri"/>
              </a:defRPr>
            </a:pPr>
            <a:r>
              <a:t>Measured weekly vs. SLA baseline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5840" y="2715768"/>
            <a:ext cx="502920" cy="365760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G2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26791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C1C1E"/>
                </a:solidFill>
                <a:latin typeface="Calibri"/>
              </a:defRPr>
            </a:pPr>
            <a:r>
              <a:t>Resolve more tickets without escalation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265176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E51937"/>
                </a:solidFill>
                <a:latin typeface="Calibri"/>
              </a:defRPr>
            </a:pPr>
            <a:r>
              <a:t>+15 pts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0" y="27432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767676"/>
                </a:solidFill>
                <a:latin typeface="Calibri"/>
              </a:defRPr>
            </a:pPr>
            <a:r>
              <a:t>Measured weekly vs. current rate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337560"/>
            <a:ext cx="10698480" cy="685800"/>
          </a:xfrm>
          <a:prstGeom prst="roundRect">
            <a:avLst>
              <a:gd name="adj" fmla="val 2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005840" y="3493008"/>
            <a:ext cx="502920" cy="365760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G3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37360" y="345643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C1C1E"/>
                </a:solidFill>
                <a:latin typeface="Calibri"/>
              </a:defRPr>
            </a:pPr>
            <a:r>
              <a:t>AI draft acceptance rate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342900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E51937"/>
                </a:solidFill>
                <a:latin typeface="Calibri"/>
              </a:defRPr>
            </a:pPr>
            <a:r>
              <a:t>&gt;70%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35204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767676"/>
                </a:solidFill>
                <a:latin typeface="Calibri"/>
              </a:defRPr>
            </a:pPr>
            <a:r>
              <a:t>Below 50% at day 45 triggers scope review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05840" y="4270248"/>
            <a:ext cx="502920" cy="365760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G4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37360" y="42336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C1C1E"/>
                </a:solidFill>
                <a:latin typeface="Calibri"/>
              </a:defRPr>
            </a:pPr>
            <a:r>
              <a:t>Increase agent throughput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0" y="420624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E51937"/>
                </a:solidFill>
                <a:latin typeface="Calibri"/>
              </a:defRPr>
            </a:pPr>
            <a:r>
              <a:t>+25%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0" y="429768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767676"/>
                </a:solidFill>
                <a:latin typeface="Calibri"/>
              </a:defRPr>
            </a:pPr>
            <a:r>
              <a:t>Tickets handled per agent per day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" y="4892040"/>
            <a:ext cx="10698480" cy="685800"/>
          </a:xfrm>
          <a:prstGeom prst="roundRect">
            <a:avLst>
              <a:gd name="adj" fmla="val 2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005840" y="5047488"/>
            <a:ext cx="502920" cy="365760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G5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37360" y="501091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C1C1E"/>
                </a:solidFill>
                <a:latin typeface="Calibri"/>
              </a:defRPr>
            </a:pPr>
            <a:r>
              <a:t>Hold customer satisfaction flat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0" y="498348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E51937"/>
                </a:solidFill>
                <a:latin typeface="Calibri"/>
              </a:defRPr>
            </a:pPr>
            <a:r>
              <a:t>No decline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0" y="50749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767676"/>
                </a:solidFill>
                <a:latin typeface="Calibri"/>
              </a:defRPr>
            </a:pPr>
            <a:r>
              <a:t>Any sustained drop triggers rollback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585216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 i="0">
                <a:solidFill>
                  <a:srgbClr val="767676"/>
                </a:solidFill>
                <a:latin typeface="Calibri"/>
              </a:defRPr>
            </a:pPr>
            <a:r>
              <a:t>Kill criteria: 2 weeks quality drop, any safety error reaching a dealer, or dealer opt-out above 15%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THE TIMELINE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90-day pilot mapped to SMART goals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0" y="1280160"/>
            <a:ext cx="259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Month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8400" y="1280160"/>
            <a:ext cx="259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Month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39200" y="1280160"/>
            <a:ext cx="259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Month 3</a:t>
            </a:r>
          </a:p>
        </p:txBody>
      </p:sp>
      <p:sp>
        <p:nvSpPr>
          <p:cNvPr id="8" name="Rectangle 7"/>
          <p:cNvSpPr/>
          <p:nvPr/>
        </p:nvSpPr>
        <p:spPr>
          <a:xfrm>
            <a:off x="6248400" y="1508760"/>
            <a:ext cx="12700" cy="4572000"/>
          </a:xfrm>
          <a:prstGeom prst="rect">
            <a:avLst/>
          </a:prstGeom>
          <a:solidFill>
            <a:srgbClr val="E0E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839200" y="1508760"/>
            <a:ext cx="12700" cy="4572000"/>
          </a:xfrm>
          <a:prstGeom prst="rect">
            <a:avLst/>
          </a:prstGeom>
          <a:solidFill>
            <a:srgbClr val="E0E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31520" y="1554480"/>
            <a:ext cx="10698480" cy="347472"/>
          </a:xfrm>
          <a:prstGeom prst="roundRect">
            <a:avLst>
              <a:gd name="adj" fmla="val 1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600200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Setup + Integration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0" y="1609344"/>
            <a:ext cx="2590800" cy="219456"/>
          </a:xfrm>
          <a:prstGeom prst="roundRect">
            <a:avLst>
              <a:gd name="adj" fmla="val 15000"/>
            </a:avLst>
          </a:prstGeom>
          <a:solidFill>
            <a:srgbClr val="D4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49040" y="1609344"/>
            <a:ext cx="2407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1C1C1E"/>
                </a:solidFill>
                <a:latin typeface="Calibri"/>
              </a:defRPr>
            </a:pPr>
            <a:r>
              <a:t>Zendesk + Kendra + Bedrock integration; baseline metrics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1947672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Knowledge Base Indexing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0" y="1956816"/>
            <a:ext cx="1813560" cy="219456"/>
          </a:xfrm>
          <a:prstGeom prst="roundRect">
            <a:avLst>
              <a:gd name="adj" fmla="val 15000"/>
            </a:avLst>
          </a:prstGeom>
          <a:solidFill>
            <a:srgbClr val="D4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THE TIMELINE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90-day pilot mapped to SMART goals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0" y="1280160"/>
            <a:ext cx="259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Month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8400" y="1280160"/>
            <a:ext cx="259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Month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39200" y="1280160"/>
            <a:ext cx="259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Month 3</a:t>
            </a:r>
          </a:p>
        </p:txBody>
      </p:sp>
      <p:sp>
        <p:nvSpPr>
          <p:cNvPr id="8" name="Rectangle 7"/>
          <p:cNvSpPr/>
          <p:nvPr/>
        </p:nvSpPr>
        <p:spPr>
          <a:xfrm>
            <a:off x="6248400" y="1508760"/>
            <a:ext cx="12700" cy="4572000"/>
          </a:xfrm>
          <a:prstGeom prst="rect">
            <a:avLst/>
          </a:prstGeom>
          <a:solidFill>
            <a:srgbClr val="E0E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839200" y="1508760"/>
            <a:ext cx="12700" cy="4572000"/>
          </a:xfrm>
          <a:prstGeom prst="rect">
            <a:avLst/>
          </a:prstGeom>
          <a:solidFill>
            <a:srgbClr val="E0E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31520" y="1554480"/>
            <a:ext cx="10698480" cy="347472"/>
          </a:xfrm>
          <a:prstGeom prst="roundRect">
            <a:avLst>
              <a:gd name="adj" fmla="val 1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600200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Setup + Integration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0" y="1609344"/>
            <a:ext cx="2590800" cy="219456"/>
          </a:xfrm>
          <a:prstGeom prst="roundRect">
            <a:avLst>
              <a:gd name="adj" fmla="val 15000"/>
            </a:avLst>
          </a:prstGeom>
          <a:solidFill>
            <a:srgbClr val="D4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49040" y="1609344"/>
            <a:ext cx="2407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1C1C1E"/>
                </a:solidFill>
                <a:latin typeface="Calibri"/>
              </a:defRPr>
            </a:pPr>
            <a:r>
              <a:t>Zendesk + Kendra + Bedrock integration; baseline metrics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1947672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Knowledge Base Indexing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0" y="1956816"/>
            <a:ext cx="1813560" cy="219456"/>
          </a:xfrm>
          <a:prstGeom prst="roundRect">
            <a:avLst>
              <a:gd name="adj" fmla="val 15000"/>
            </a:avLst>
          </a:prstGeom>
          <a:solidFill>
            <a:srgbClr val="D4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31520" y="2249424"/>
            <a:ext cx="10698480" cy="347472"/>
          </a:xfrm>
          <a:prstGeom prst="roundRect">
            <a:avLst>
              <a:gd name="adj" fmla="val 1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2295144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AI Draft Rollout (AXS)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960" y="229514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E51937"/>
                </a:solidFill>
                <a:latin typeface="Calibri"/>
              </a:defRPr>
            </a:pPr>
            <a:r>
              <a:t>G3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71160" y="2304288"/>
            <a:ext cx="3368040" cy="219456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562600" y="2304288"/>
            <a:ext cx="3185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FFFFFF"/>
                </a:solidFill>
                <a:latin typeface="Calibri"/>
              </a:defRPr>
            </a:pPr>
            <a:r>
              <a:t>AI drafts responses; agents review 100%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2642616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AI Draft Rollout (Hammerhead)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2642616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E51937"/>
                </a:solidFill>
                <a:latin typeface="Calibri"/>
              </a:defRPr>
            </a:pPr>
            <a:r>
              <a:t>G3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766560" y="2651760"/>
            <a:ext cx="2590800" cy="219456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0" y="2651760"/>
            <a:ext cx="2407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FFFFFF"/>
                </a:solidFill>
                <a:latin typeface="Calibri"/>
              </a:defRPr>
            </a:pPr>
            <a:r>
              <a:t>Expand to Hammerhead device tickets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2944368"/>
            <a:ext cx="10698480" cy="347472"/>
          </a:xfrm>
          <a:prstGeom prst="roundRect">
            <a:avLst>
              <a:gd name="adj" fmla="val 1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" y="2990088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Response Time Tracking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08960" y="2990088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E51937"/>
                </a:solidFill>
                <a:latin typeface="Calibri"/>
              </a:defRPr>
            </a:pPr>
            <a:r>
              <a:t>G1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953000" y="2999232"/>
            <a:ext cx="6477000" cy="219456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44440" y="2999232"/>
            <a:ext cx="62941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FFFFFF"/>
                </a:solidFill>
                <a:latin typeface="Calibri"/>
              </a:defRPr>
            </a:pPr>
            <a:r>
              <a:t>Weekly measurement vs. SLA baseline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3337560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Escalation Rate Tracking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108960" y="3337560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E51937"/>
                </a:solidFill>
                <a:latin typeface="Calibri"/>
              </a:defRPr>
            </a:pPr>
            <a:r>
              <a:t>G2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953000" y="3346704"/>
            <a:ext cx="6477000" cy="219456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44440" y="3346704"/>
            <a:ext cx="62941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FFFFFF"/>
                </a:solidFill>
                <a:latin typeface="Calibri"/>
              </a:defRPr>
            </a:pPr>
            <a:r>
              <a:t>Weekly measurement vs. baseline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31520" y="3639312"/>
            <a:ext cx="10698480" cy="347472"/>
          </a:xfrm>
          <a:prstGeom prst="roundRect">
            <a:avLst>
              <a:gd name="adj" fmla="val 1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1520" y="3685032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Throughput Measurement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108960" y="368503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E51937"/>
                </a:solidFill>
                <a:latin typeface="Calibri"/>
              </a:defRPr>
            </a:pPr>
            <a:r>
              <a:t>G4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248400" y="3694176"/>
            <a:ext cx="5181600" cy="219456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39840" y="3694176"/>
            <a:ext cx="49987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FFFFFF"/>
                </a:solidFill>
                <a:latin typeface="Calibri"/>
              </a:defRPr>
            </a:pPr>
            <a:r>
              <a:t>Tickets/agent/day tracked weekly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" y="4032504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CSAT Monitoring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108960" y="403250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E51937"/>
                </a:solidFill>
                <a:latin typeface="Calibri"/>
              </a:defRPr>
            </a:pPr>
            <a:r>
              <a:t>G5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953000" y="4041648"/>
            <a:ext cx="6477000" cy="219456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044440" y="4041648"/>
            <a:ext cx="62941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FFFFFF"/>
                </a:solidFill>
                <a:latin typeface="Calibri"/>
              </a:defRPr>
            </a:pPr>
            <a:r>
              <a:t>No decline for 2 consecutive periods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THE TIMELINE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90-day pilot mapped to SMART goals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0" y="1280160"/>
            <a:ext cx="259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Month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8400" y="1280160"/>
            <a:ext cx="259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Month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39200" y="1280160"/>
            <a:ext cx="259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Month 3</a:t>
            </a:r>
          </a:p>
        </p:txBody>
      </p:sp>
      <p:sp>
        <p:nvSpPr>
          <p:cNvPr id="8" name="Rectangle 7"/>
          <p:cNvSpPr/>
          <p:nvPr/>
        </p:nvSpPr>
        <p:spPr>
          <a:xfrm>
            <a:off x="6248400" y="1508760"/>
            <a:ext cx="12700" cy="4572000"/>
          </a:xfrm>
          <a:prstGeom prst="rect">
            <a:avLst/>
          </a:prstGeom>
          <a:solidFill>
            <a:srgbClr val="E0E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839200" y="1508760"/>
            <a:ext cx="12700" cy="4572000"/>
          </a:xfrm>
          <a:prstGeom prst="rect">
            <a:avLst/>
          </a:prstGeom>
          <a:solidFill>
            <a:srgbClr val="E0E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31520" y="1554480"/>
            <a:ext cx="10698480" cy="347472"/>
          </a:xfrm>
          <a:prstGeom prst="roundRect">
            <a:avLst>
              <a:gd name="adj" fmla="val 1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600200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Setup + Integration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0" y="1609344"/>
            <a:ext cx="2590800" cy="219456"/>
          </a:xfrm>
          <a:prstGeom prst="roundRect">
            <a:avLst>
              <a:gd name="adj" fmla="val 15000"/>
            </a:avLst>
          </a:prstGeom>
          <a:solidFill>
            <a:srgbClr val="D4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49040" y="1609344"/>
            <a:ext cx="2407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1C1C1E"/>
                </a:solidFill>
                <a:latin typeface="Calibri"/>
              </a:defRPr>
            </a:pPr>
            <a:r>
              <a:t>Zendesk + Kendra + Bedrock integration; baseline metrics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1947672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Knowledge Base Indexing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0" y="1956816"/>
            <a:ext cx="1813560" cy="219456"/>
          </a:xfrm>
          <a:prstGeom prst="roundRect">
            <a:avLst>
              <a:gd name="adj" fmla="val 15000"/>
            </a:avLst>
          </a:prstGeom>
          <a:solidFill>
            <a:srgbClr val="D4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31520" y="2249424"/>
            <a:ext cx="10698480" cy="347472"/>
          </a:xfrm>
          <a:prstGeom prst="roundRect">
            <a:avLst>
              <a:gd name="adj" fmla="val 1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2295144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AI Draft Rollout (AXS)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960" y="229514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E51937"/>
                </a:solidFill>
                <a:latin typeface="Calibri"/>
              </a:defRPr>
            </a:pPr>
            <a:r>
              <a:t>G3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71160" y="2304288"/>
            <a:ext cx="3368040" cy="219456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562600" y="2304288"/>
            <a:ext cx="3185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FFFFFF"/>
                </a:solidFill>
                <a:latin typeface="Calibri"/>
              </a:defRPr>
            </a:pPr>
            <a:r>
              <a:t>AI drafts responses; agents review 100%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2642616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AI Draft Rollout (Hammerhead)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2642616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E51937"/>
                </a:solidFill>
                <a:latin typeface="Calibri"/>
              </a:defRPr>
            </a:pPr>
            <a:r>
              <a:t>G3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766560" y="2651760"/>
            <a:ext cx="2590800" cy="219456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0" y="2651760"/>
            <a:ext cx="2407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FFFFFF"/>
                </a:solidFill>
                <a:latin typeface="Calibri"/>
              </a:defRPr>
            </a:pPr>
            <a:r>
              <a:t>Expand to Hammerhead device tickets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2944368"/>
            <a:ext cx="10698480" cy="347472"/>
          </a:xfrm>
          <a:prstGeom prst="roundRect">
            <a:avLst>
              <a:gd name="adj" fmla="val 1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" y="2990088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Response Time Tracking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08960" y="2990088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E51937"/>
                </a:solidFill>
                <a:latin typeface="Calibri"/>
              </a:defRPr>
            </a:pPr>
            <a:r>
              <a:t>G1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953000" y="2999232"/>
            <a:ext cx="6477000" cy="219456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44440" y="2999232"/>
            <a:ext cx="62941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FFFFFF"/>
                </a:solidFill>
                <a:latin typeface="Calibri"/>
              </a:defRPr>
            </a:pPr>
            <a:r>
              <a:t>Weekly measurement vs. SLA baseline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3337560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Escalation Rate Tracking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108960" y="3337560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E51937"/>
                </a:solidFill>
                <a:latin typeface="Calibri"/>
              </a:defRPr>
            </a:pPr>
            <a:r>
              <a:t>G2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953000" y="3346704"/>
            <a:ext cx="6477000" cy="219456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44440" y="3346704"/>
            <a:ext cx="62941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FFFFFF"/>
                </a:solidFill>
                <a:latin typeface="Calibri"/>
              </a:defRPr>
            </a:pPr>
            <a:r>
              <a:t>Weekly measurement vs. baseline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31520" y="3639312"/>
            <a:ext cx="10698480" cy="347472"/>
          </a:xfrm>
          <a:prstGeom prst="roundRect">
            <a:avLst>
              <a:gd name="adj" fmla="val 1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1520" y="3685032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Throughput Measurement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108960" y="368503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E51937"/>
                </a:solidFill>
                <a:latin typeface="Calibri"/>
              </a:defRPr>
            </a:pPr>
            <a:r>
              <a:t>G4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248400" y="3694176"/>
            <a:ext cx="5181600" cy="219456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39840" y="3694176"/>
            <a:ext cx="49987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FFFFFF"/>
                </a:solidFill>
                <a:latin typeface="Calibri"/>
              </a:defRPr>
            </a:pPr>
            <a:r>
              <a:t>Tickets/agent/day tracked weekly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" y="4032504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CSAT Monitoring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108960" y="403250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E51937"/>
                </a:solidFill>
                <a:latin typeface="Calibri"/>
              </a:defRPr>
            </a:pPr>
            <a:r>
              <a:t>G5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953000" y="4041648"/>
            <a:ext cx="6477000" cy="219456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044440" y="4041648"/>
            <a:ext cx="62941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FFFFFF"/>
                </a:solidFill>
                <a:latin typeface="Calibri"/>
              </a:defRPr>
            </a:pPr>
            <a:r>
              <a:t>No decline for 2 consecutive periods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31520" y="4334256"/>
            <a:ext cx="10698480" cy="347472"/>
          </a:xfrm>
          <a:prstGeom prst="roundRect">
            <a:avLst>
              <a:gd name="adj" fmla="val 1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31520" y="4379976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Weekly Quality Reviews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953000" y="4389120"/>
            <a:ext cx="6477000" cy="219456"/>
          </a:xfrm>
          <a:prstGeom prst="roundRect">
            <a:avLst>
              <a:gd name="adj" fmla="val 15000"/>
            </a:avLst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044440" y="4389120"/>
            <a:ext cx="62941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1C1C1E"/>
                </a:solidFill>
                <a:latin typeface="Calibri"/>
              </a:defRPr>
            </a:pPr>
            <a:r>
              <a:t>Rollback trigger if quality drops 2 weeks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1520" y="4727448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Day-45 Checkpoint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543800" y="4736592"/>
            <a:ext cx="388620" cy="219456"/>
          </a:xfrm>
          <a:prstGeom prst="roundRect">
            <a:avLst>
              <a:gd name="adj" fmla="val 15000"/>
            </a:avLst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731520" y="5029200"/>
            <a:ext cx="10698480" cy="347472"/>
          </a:xfrm>
          <a:prstGeom prst="roundRect">
            <a:avLst>
              <a:gd name="adj" fmla="val 1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31520" y="5074920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Day-90 Go/No-Go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1041380" y="5084064"/>
            <a:ext cx="388620" cy="219456"/>
          </a:xfrm>
          <a:prstGeom prst="roundRect">
            <a:avLst>
              <a:gd name="adj" fmla="val 15000"/>
            </a:avLst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31520" y="557784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Day-45 checkpoint: scope review if draft acceptance &lt; 50%  |  Day-90: go / no-go decision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THE RETURN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$10.2M net value in Year 1 on $2.7M spend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1C1C1E"/>
                </a:solidFill>
                <a:latin typeface="Calibri"/>
              </a:defRPr>
            </a:pPr>
            <a:r>
              <a:t>Scenario Range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0312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767676"/>
                </a:solidFill>
                <a:latin typeface="Calibri"/>
              </a:defRPr>
            </a:pPr>
            <a:r>
              <a:t>Conservative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210312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C1C1E"/>
                </a:solidFill>
                <a:latin typeface="Calibri"/>
              </a:defRPr>
            </a:pPr>
            <a:r>
              <a:t>$4.5M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214884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767676"/>
                </a:solidFill>
                <a:latin typeface="Calibri"/>
              </a:defRPr>
            </a:pPr>
            <a:r>
              <a:t>2.8x ROI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834640"/>
            <a:ext cx="5029200" cy="731520"/>
          </a:xfrm>
          <a:prstGeom prst="roundRect">
            <a:avLst>
              <a:gd name="adj" fmla="val 2000"/>
            </a:avLst>
          </a:prstGeom>
          <a:solidFill>
            <a:srgbClr val="FDF0F2"/>
          </a:solidFill>
          <a:ln w="12700">
            <a:solidFill>
              <a:srgbClr val="E51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92608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767676"/>
                </a:solidFill>
                <a:latin typeface="Calibri"/>
              </a:defRPr>
            </a:pPr>
            <a:r>
              <a:t>Expected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292608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C1C1E"/>
                </a:solidFill>
                <a:latin typeface="Calibri"/>
              </a:defRPr>
            </a:pPr>
            <a:r>
              <a:t>$10.2M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0" y="29718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767676"/>
                </a:solidFill>
                <a:latin typeface="Calibri"/>
              </a:defRPr>
            </a:pPr>
            <a:r>
              <a:t>3.8x ROI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490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767676"/>
                </a:solidFill>
                <a:latin typeface="Calibri"/>
              </a:defRPr>
            </a:pPr>
            <a:r>
              <a:t>Upside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0" y="374904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C1C1E"/>
                </a:solidFill>
                <a:latin typeface="Calibri"/>
              </a:defRPr>
            </a:pPr>
            <a:r>
              <a:t>$22.5M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37947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767676"/>
                </a:solidFill>
                <a:latin typeface="Calibri"/>
              </a:defRPr>
            </a:pPr>
            <a:r>
              <a:t>6.4x ROI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132588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C1C1E"/>
                </a:solidFill>
                <a:latin typeface="Calibri"/>
              </a:defRPr>
            </a:pPr>
            <a:r>
              <a:t>Year-1 Financial Impact (All Phases)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0" y="1737360"/>
            <a:ext cx="2560320" cy="1097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29400" y="187452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NET YEAR-1 VALUE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9400" y="210312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$10.2M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29400" y="256032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Expected case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44000" y="1737360"/>
            <a:ext cx="2560320" cy="1097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72600" y="187452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RETURN ON SPEND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72600" y="210312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3.8x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72600" y="256032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On $2.7M total spend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3017520"/>
            <a:ext cx="5029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19"/>
              </a:spcAft>
              <a:defRPr sz="1300" b="1">
                <a:solidFill>
                  <a:srgbClr val="1C1C1E"/>
                </a:solidFill>
                <a:latin typeface="Calibri"/>
              </a:defRPr>
            </a:pPr>
            <a:r>
              <a:t>Cost Reductions</a:t>
            </a:r>
          </a:p>
          <a:p>
            <a:pPr>
              <a:spcAft>
                <a:spcPts val="439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Support automation savings: $1.6M</a:t>
            </a:r>
          </a:p>
          <a:p>
            <a:pPr>
              <a:spcAft>
                <a:spcPts val="439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Demand forecasting savings: $1.6M</a:t>
            </a:r>
          </a:p>
          <a:p>
            <a:pPr>
              <a:spcAft>
                <a:spcPts val="439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Documentation and translation: $0.24M</a:t>
            </a:r>
          </a:p>
          <a:p>
            <a:pPr>
              <a:spcAft>
                <a:spcPts val="199"/>
              </a:spcAft>
              <a:defRPr sz="500" b="0">
                <a:solidFill>
                  <a:srgbClr val="767676"/>
                </a:solidFill>
                <a:latin typeface="Calibri"/>
              </a:defRPr>
            </a:pPr>
          </a:p>
          <a:p>
            <a:pPr>
              <a:spcAft>
                <a:spcPts val="519"/>
              </a:spcAft>
              <a:defRPr sz="1300" b="1">
                <a:solidFill>
                  <a:srgbClr val="1C1C1E"/>
                </a:solidFill>
                <a:latin typeface="Calibri"/>
              </a:defRPr>
            </a:pPr>
            <a:r>
              <a:t>Revenue Growth</a:t>
            </a:r>
          </a:p>
          <a:p>
            <a:pPr>
              <a:spcAft>
                <a:spcPts val="439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Customer retention: $3.0M</a:t>
            </a:r>
          </a:p>
          <a:p>
            <a:pPr>
              <a:spcAft>
                <a:spcPts val="439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Package size increase: $4.0M</a:t>
            </a:r>
          </a:p>
          <a:p>
            <a:pPr>
              <a:spcAft>
                <a:spcPts val="439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Proposal win rate: $2.5M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0" y="5303520"/>
            <a:ext cx="5303520" cy="77724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75120" y="5349240"/>
            <a:ext cx="4754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59"/>
              </a:spcAft>
              <a:defRPr sz="1200" b="1">
                <a:solidFill>
                  <a:srgbClr val="1C1C1E"/>
                </a:solidFill>
                <a:latin typeface="Calibri"/>
              </a:defRPr>
            </a:pPr>
            <a:r>
              <a:t>Gross value: $12.9M</a:t>
            </a:r>
          </a:p>
          <a:p>
            <a:pPr>
              <a:spcAft>
                <a:spcPts val="329"/>
              </a:spcAft>
              <a:defRPr sz="1100" b="0">
                <a:solidFill>
                  <a:srgbClr val="767676"/>
                </a:solidFill>
                <a:latin typeface="Calibri"/>
              </a:defRPr>
            </a:pPr>
            <a:r>
              <a:t>Setup + operating costs: ($2.7M)</a:t>
            </a:r>
          </a:p>
          <a:p>
            <a:pPr>
              <a:spcAft>
                <a:spcPts val="389"/>
              </a:spcAft>
              <a:defRPr sz="1300" b="1">
                <a:solidFill>
                  <a:srgbClr val="1C1C1E"/>
                </a:solidFill>
                <a:latin typeface="Calibri"/>
              </a:defRPr>
            </a:pPr>
            <a:r>
              <a:t>Net value: $10.2M  |  Return: 3.8x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5943600"/>
            <a:ext cx="5029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Estimates based on industry benchmarks, interview data, and SRAM public filings. Full breakdown in Appendix A1.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WHAT COULD BE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Hardware company to performance intelligence by 2031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Each capability creates a new recurring revenue stream. SRAM's installed base of connected components becomes a platform, not a one-time sale.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1371600"/>
          </a:xfrm>
          <a:prstGeom prst="roundRect">
            <a:avLst>
              <a:gd name="adj" fmla="val 4000"/>
            </a:avLst>
          </a:prstGeom>
          <a:solidFill>
            <a:srgbClr val="FDF0F2"/>
          </a:solidFill>
          <a:ln w="12700">
            <a:solidFill>
              <a:srgbClr val="E51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828800"/>
            <a:ext cx="50800" cy="13716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938528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E51937"/>
                </a:solidFill>
                <a:latin typeface="Calibri"/>
              </a:defRPr>
            </a:pPr>
            <a:r>
              <a:t>THE UNLOCK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1945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1C1C1E"/>
                </a:solidFill>
                <a:latin typeface="Calibri"/>
              </a:defRPr>
            </a:pPr>
            <a:r>
              <a:t>AXS Intelligence Platform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65176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Unified rider dashboard: power, gearing, suspension, heart rate in one view. No competitor has the product breadth to build this.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0" y="219456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 i="0">
                <a:solidFill>
                  <a:srgbClr val="E51937"/>
                </a:solidFill>
                <a:latin typeface="Calibri"/>
              </a:defRPr>
            </a:pPr>
            <a:r>
              <a:t>NEW REVENUE: Premium subscription tier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WHAT COULD BE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Hardware company to performance intelligence by 2031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Each capability creates a new recurring revenue stream. SRAM's installed base of connected components becomes a platform, not a one-time sale.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1371600"/>
          </a:xfrm>
          <a:prstGeom prst="roundRect">
            <a:avLst>
              <a:gd name="adj" fmla="val 4000"/>
            </a:avLst>
          </a:prstGeom>
          <a:solidFill>
            <a:srgbClr val="FDF0F2"/>
          </a:solidFill>
          <a:ln w="12700">
            <a:solidFill>
              <a:srgbClr val="E51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828800"/>
            <a:ext cx="50800" cy="13716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938528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E51937"/>
                </a:solidFill>
                <a:latin typeface="Calibri"/>
              </a:defRPr>
            </a:pPr>
            <a:r>
              <a:t>THE UNLOCK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1945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1C1C1E"/>
                </a:solidFill>
                <a:latin typeface="Calibri"/>
              </a:defRPr>
            </a:pPr>
            <a:r>
              <a:t>AXS Intelligence Platform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65176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Unified rider dashboard: power, gearing, suspension, heart rate in one view. No competitor has the product breadth to build this.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0" y="219456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 i="0">
                <a:solidFill>
                  <a:srgbClr val="E51937"/>
                </a:solidFill>
                <a:latin typeface="Calibri"/>
              </a:defRPr>
            </a:pPr>
            <a:r>
              <a:t>NEW REVENUE: Premium subscription tier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657600"/>
            <a:ext cx="342900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794760"/>
            <a:ext cx="2971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1C1C1E"/>
                </a:solidFill>
                <a:latin typeface="Calibri"/>
              </a:defRPr>
            </a:pPr>
            <a:r>
              <a:t>Predictive Maintenance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114800"/>
            <a:ext cx="2971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Connected components predict chain and brake pad replacement before failure. Installed base becomes recurring revenue.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70916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E51937"/>
                </a:solidFill>
                <a:latin typeface="Calibri"/>
              </a:defRPr>
            </a:pPr>
            <a:r>
              <a:t>NEW REVENUE: Per-device monitoring subscription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89120" y="3657600"/>
            <a:ext cx="342900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17720" y="3794760"/>
            <a:ext cx="2971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1C1C1E"/>
                </a:solidFill>
                <a:latin typeface="Calibri"/>
              </a:defRPr>
            </a:pPr>
            <a:r>
              <a:t>AI-Tuned Performance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4114800"/>
            <a:ext cx="2971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Suspension auto-adjusts to terrain. Shifting optimizes for rider power. Products improve continuously after purchase.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470916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E51937"/>
                </a:solidFill>
                <a:latin typeface="Calibri"/>
              </a:defRPr>
            </a:pPr>
            <a:r>
              <a:t>NEW REVENUE: Premium optimization tier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46720" y="3657600"/>
            <a:ext cx="342900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75320" y="3794760"/>
            <a:ext cx="2971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1C1C1E"/>
                </a:solidFill>
                <a:latin typeface="Calibri"/>
              </a:defRPr>
            </a:pPr>
            <a:r>
              <a:t>Dealer Intelligence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75320" y="4114800"/>
            <a:ext cx="2971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Telemetry tells dealers which parts approach end-of-life in their area. Proactive ordering replaces reactive.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5320" y="470916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E51937"/>
                </a:solidFill>
                <a:latin typeface="Calibri"/>
              </a:defRPr>
            </a:pPr>
            <a:r>
              <a:t>NEW REVENUE: Dealer analytics license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" y="5486400"/>
            <a:ext cx="10698480" cy="411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1520" y="5486400"/>
            <a:ext cx="50800" cy="41148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97280" y="5522976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t>Hardware sells data access  →  Data improves performance  →  Performance sells hardware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WHAT IT TAKES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Talent, data, and leadership required at each phase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3429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t>TALENT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34290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38528"/>
            <a:ext cx="3063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PHASE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194560"/>
            <a:ext cx="3063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1 integration engineer + 1 product owner.</a:t>
            </a:r>
            <a:br/>
            <a:r>
              <a:t>No new AI/ML hires. 250-400 existing engineers</a:t>
            </a:r>
            <a:br/>
            <a:r>
              <a:t>have capacity with AI-assisted tooling.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840480"/>
            <a:ext cx="34290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50208"/>
            <a:ext cx="3063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PHASE 2+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206240"/>
            <a:ext cx="3063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Add product managers and QA capacity.</a:t>
            </a:r>
            <a:br/>
            <a:r>
              <a:t>The constraint is PM and QA, not developers.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43400" y="1371600"/>
            <a:ext cx="3429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t>DATA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1828800"/>
            <a:ext cx="34290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26280" y="1938528"/>
            <a:ext cx="3063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TODAY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6280" y="2194560"/>
            <a:ext cx="3063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Good data in pockets, messy data everywhere</a:t>
            </a:r>
            <a:br/>
            <a:r>
              <a:t>else. 18 months of consolidation underway.</a:t>
            </a:r>
            <a:br/>
            <a:r>
              <a:t>AXS + Hammerhead data is pilot-ready.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3400" y="3840480"/>
            <a:ext cx="34290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26280" y="3950208"/>
            <a:ext cx="3063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NEEDED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80" y="4206240"/>
            <a:ext cx="3063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Unified data layer linking CRM, inventory,</a:t>
            </a:r>
            <a:br/>
            <a:r>
              <a:t>and telemetry. Foundation for Phase 2-4.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55280" y="1371600"/>
            <a:ext cx="3429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t>LEADERSHIP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0" y="1828800"/>
            <a:ext cx="34290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38160" y="1938528"/>
            <a:ext cx="3063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PHASE 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38160" y="2194560"/>
            <a:ext cx="3063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CEO assigns one accountable business owner</a:t>
            </a:r>
            <a:br/>
            <a:r>
              <a:t>with authority over scope and tooling decisions.</a:t>
            </a:r>
            <a:br/>
            <a:r>
              <a:t>Weekly quality reviews.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55280" y="3840480"/>
            <a:ext cx="34290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38160" y="3950208"/>
            <a:ext cx="3063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OPEN QUESTION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38160" y="4206240"/>
            <a:ext cx="3063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No confirmed executive sponsor above</a:t>
            </a:r>
            <a:br/>
            <a:r>
              <a:t>Hartsell for the data consolidation roadmap.</a:t>
            </a:r>
            <a:br/>
            <a:r>
              <a:t>Resolving this is a prerequisite for Phase 2.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1520" y="5623560"/>
            <a:ext cx="10698480" cy="502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31520" y="5623560"/>
            <a:ext cx="50800" cy="502920"/>
          </a:xfrm>
          <a:prstGeom prst="rect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51560" y="5715000"/>
            <a:ext cx="1014984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1">
                <a:solidFill>
                  <a:srgbClr val="3A3A3C"/>
                </a:solidFill>
                <a:latin typeface="Calibri"/>
              </a:defRPr>
            </a:pPr>
            <a:r>
              <a:t>“We are 60 to 70 percent of the way to deploying a bounded support assistant for AXS and Hammerhead products.”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" y="5852160"/>
            <a:ext cx="10149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Jordan Hartsell, VP Digital Products, SRAM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THE TRADE-OFFS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Three risks worth naming before the decision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1051560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371600"/>
            <a:ext cx="50800" cy="1371600"/>
          </a:xfrm>
          <a:prstGeom prst="rect">
            <a:avLst/>
          </a:prstGeom>
          <a:solidFill>
            <a:srgbClr val="C43B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1463040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t>Dealer trust is fragile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178308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One confident wrong answer from the AI reaches a dealer, and the support team loses credibility it spent years building. Human-in-the-loop and weekly quality reviews mitigate this, but they also slow throughput gains.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377440"/>
            <a:ext cx="9601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MITIGATION: Kill criteria trigger rollback at first safety error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971800"/>
            <a:ext cx="1051560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2971800"/>
            <a:ext cx="50800" cy="1371600"/>
          </a:xfrm>
          <a:prstGeom prst="rect">
            <a:avLst/>
          </a:prstGeom>
          <a:solidFill>
            <a:srgbClr val="C43B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063240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t>Data consolidation has no executive sponsor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38328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Hartsell owns digital products but not the CRM, ERP, or inventory systems. Phase 2 requires a unified data layer across those systems. Without a senior sponsor, data integration stalls and the pilot stays isolated.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3977640"/>
            <a:ext cx="9601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MITIGATION: CEO assigns cross-functional data owner in parallel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4572000"/>
            <a:ext cx="1051560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31520" y="4572000"/>
            <a:ext cx="50800" cy="1371600"/>
          </a:xfrm>
          <a:prstGeom prst="rect">
            <a:avLst/>
          </a:prstGeom>
          <a:solidFill>
            <a:srgbClr val="C43B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663440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t>AI hype creates unrealistic internal expectations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498348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SRAM's engineering culture values precision. If leadership frames AI as a silver bullet rather than a tool, early imperfections will fuel skepticism and internal resistance to future phases.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77840"/>
            <a:ext cx="9601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MITIGATION: Frame pilot as experiment with defined success and failure criteria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THE DECISION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Three actions for SRAM's CEO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10515600" cy="1188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97280" y="1600200"/>
            <a:ext cx="457200" cy="457200"/>
          </a:xfrm>
          <a:prstGeom prst="ellipse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5F5F3"/>
                </a:solidFill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463040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1C1C1E"/>
                </a:solidFill>
                <a:latin typeface="Calibri"/>
              </a:defRPr>
            </a:pPr>
            <a:r>
              <a:t>Launch the 90-Day Support Pilot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182880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3A3A3C"/>
                </a:solidFill>
                <a:latin typeface="Calibri"/>
              </a:defRPr>
            </a:pPr>
            <a:r>
              <a:t>AXS and Hammerhead dealer support. One product owner, one integration engineer. Human approval on all outputs. Weekly quality reviews with defined rollback trigger.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788920"/>
            <a:ext cx="10515600" cy="1188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97280" y="3017520"/>
            <a:ext cx="457200" cy="457200"/>
          </a:xfrm>
          <a:prstGeom prst="ellipse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5F5F3"/>
                </a:solidFill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2880360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1C1C1E"/>
                </a:solidFill>
                <a:latin typeface="Calibri"/>
              </a:defRPr>
            </a:pPr>
            <a:r>
              <a:t>Begin Data Infrastructure Planning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324612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3A3A3C"/>
                </a:solidFill>
                <a:latin typeface="Calibri"/>
              </a:defRPr>
            </a:pPr>
            <a:r>
              <a:t>Unified data layer connecting Shopify, support systems, and telemetry. Foundation for Phase 2 forecasting and Phase 4 AXS Intelligence platform.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206240"/>
            <a:ext cx="10515600" cy="1188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97280" y="4434840"/>
            <a:ext cx="457200" cy="457200"/>
          </a:xfrm>
          <a:prstGeom prst="ellipse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5F5F3"/>
                </a:solidFill>
              </a:defRPr>
            </a:pPr>
            <a: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4297680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1C1C1E"/>
                </a:solidFill>
                <a:latin typeface="Calibri"/>
              </a:defRPr>
            </a:pPr>
            <a:r>
              <a:t>Hold Sequencing Discipline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466344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3A3A3C"/>
                </a:solidFill>
                <a:latin typeface="Calibri"/>
              </a:defRPr>
            </a:pPr>
            <a:r>
              <a:t>Bounded, well-defined problems first. Broader transformation after measured proof. The 90-day pilot produces data to justify or redirect every subsequent investment.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5715000"/>
            <a:ext cx="1051560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" y="5715000"/>
            <a:ext cx="50800" cy="54864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88720" y="5742432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60"/>
              </a:spcAft>
              <a:defRPr sz="1300" b="1">
                <a:solidFill>
                  <a:srgbClr val="1C1C1E"/>
                </a:solidFill>
                <a:latin typeface="Calibri"/>
              </a:defRPr>
            </a:pPr>
            <a:r>
              <a:t>Expected Year-1 return: 3.8x on $2.7M spend</a:t>
            </a:r>
          </a:p>
          <a:p>
            <a:pPr>
              <a:spcAft>
                <a:spcPts val="220"/>
              </a:spcAft>
              <a:defRPr sz="1100" b="0">
                <a:solidFill>
                  <a:srgbClr val="767676"/>
                </a:solidFill>
                <a:latin typeface="Calibri"/>
              </a:defRPr>
            </a:pPr>
            <a:r>
              <a:t>Downside bounded by 90-day pilot  |  Upside scales with SRAM's data advantage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Financial detail across three scenarios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Category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0" y="13716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Conservative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3716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Expected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0" y="13716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Upside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719072"/>
            <a:ext cx="10515600" cy="347472"/>
          </a:xfrm>
          <a:prstGeom prst="roundRect">
            <a:avLst>
              <a:gd name="adj" fmla="val 2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7373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Support assistant savings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17373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$0.5M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7373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$1.6M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0" y="17373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$4.3M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1031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Forecasting + inventory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21031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$0.7M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21031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$1.6M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20" y="21031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$4.5M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2450592"/>
            <a:ext cx="10515600" cy="347472"/>
          </a:xfrm>
          <a:prstGeom prst="roundRect">
            <a:avLst>
              <a:gd name="adj" fmla="val 2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24688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Documentation + translation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74720" y="24688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$0.1M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17920" y="24688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$0.24M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61120" y="24688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$0.9M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28346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Customer retention revenue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74720" y="28346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$1.5M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17920" y="28346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$3.0M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61120" y="28346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$4.5M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31520" y="3182112"/>
            <a:ext cx="10515600" cy="347472"/>
          </a:xfrm>
          <a:prstGeom prst="roundRect">
            <a:avLst>
              <a:gd name="adj" fmla="val 2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32004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Package size increase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74720" y="32004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$2.0M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17920" y="32004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$4.0M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61120" y="32004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$8.0M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35661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Proposal win-rate revenue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74720" y="35661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$1.3M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17920" y="35661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$2.5M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961120" y="35661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$3.8M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3931920"/>
            <a:ext cx="10515600" cy="12700"/>
          </a:xfrm>
          <a:prstGeom prst="rect">
            <a:avLst/>
          </a:prstGeom>
          <a:solidFill>
            <a:srgbClr val="E0E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1520" y="40690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1C1C1E"/>
                </a:solidFill>
                <a:latin typeface="Calibri"/>
              </a:defRPr>
            </a:pPr>
            <a:r>
              <a:t>Gross value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474720" y="40690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$6.1M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17920" y="40690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$12.9M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961120" y="40690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$26.0M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1520" y="44348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1C1C1E"/>
                </a:solidFill>
                <a:latin typeface="Calibri"/>
              </a:defRPr>
            </a:pPr>
            <a:r>
              <a:t>Setup costs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474720" y="44348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($1.2M)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17920" y="44348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($2.0M)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961120" y="44348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($2.5M)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1520" y="48006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1C1C1E"/>
                </a:solidFill>
                <a:latin typeface="Calibri"/>
              </a:defRPr>
            </a:pPr>
            <a:r>
              <a:t>Operating costs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474720" y="48006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($0.4M)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217920" y="48006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($0.7M)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961120" y="48006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($1.0M)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31520" y="51663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Net Year-1 value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474720" y="51663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$4.5M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17920" y="51663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$10.2M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961120" y="51663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$22.5M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" y="55321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Return on spend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474720" y="55321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2.8x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217920" y="55321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3.8x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961120" y="55321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6.4x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31520" y="64008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APPENDIX A1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Interview with Jordan Hartsell, VP Digital Products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767676"/>
                </a:solidFill>
                <a:latin typeface="Calibri"/>
              </a:defRPr>
            </a:pPr>
            <a:r>
              <a:t>45-minute Zoom call  |  March 2026  |  Key quotes and insights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10789920" cy="1005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691640"/>
            <a:ext cx="50800" cy="1005840"/>
          </a:xfrm>
          <a:prstGeom prst="rect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73736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ON DATA READINESS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947672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3A3A3C"/>
                </a:solidFill>
                <a:latin typeface="Calibri"/>
              </a:defRPr>
            </a:pPr>
            <a:r>
              <a:t>“We have good data in pockets and messy data everywhere else. If I wanted to build a support AI today, I could get it to work well for AXS and Hammerhead. The moment a dealer asks about a RockShox fork on a 2019 frame with a third-party brake, I start to sweat.”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201168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1C1C1E"/>
                </a:solidFill>
                <a:latin typeface="Calibri"/>
              </a:defRPr>
            </a:pPr>
            <a:r>
              <a:t>→ Validates bounded pilot scope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880360"/>
            <a:ext cx="10789920" cy="1005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2880360"/>
            <a:ext cx="50800" cy="1005840"/>
          </a:xfrm>
          <a:prstGeom prst="rect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92608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ON ADOPTION BARRIERS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3136392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3A3A3C"/>
                </a:solidFill>
                <a:latin typeface="Calibri"/>
              </a:defRPr>
            </a:pPr>
            <a:r>
              <a:t>“The resistance comes from customer-facing teams because they worry AI will produce confident-sounding wrong answers that damage dealer relationships they have spent years building.”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320040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1C1C1E"/>
                </a:solidFill>
                <a:latin typeface="Calibri"/>
              </a:defRPr>
            </a:pPr>
            <a:r>
              <a:t>→ Human-in-the-loop is mandatory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4069080"/>
            <a:ext cx="10789920" cy="1005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31520" y="4069080"/>
            <a:ext cx="50800" cy="1005840"/>
          </a:xfrm>
          <a:prstGeom prst="rect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411480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ON COMPETITIVE ADVANTAGE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325112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3A3A3C"/>
                </a:solidFill>
                <a:latin typeface="Calibri"/>
              </a:defRPr>
            </a:pPr>
            <a:r>
              <a:t>“A rider on Shimano [SRAM's largest competitor] uses the app to check if parts fit. A Hammerhead rider uses it to train, navigate, and talk to every component on the bike. That is a fundamentally different data relationship.”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0" y="43891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1C1C1E"/>
                </a:solidFill>
                <a:latin typeface="Calibri"/>
              </a:defRPr>
            </a:pPr>
            <a:r>
              <a:t>→ Hammerhead is SRAM's real AI moat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5257800"/>
            <a:ext cx="10789920" cy="1005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31520" y="5257800"/>
            <a:ext cx="50800" cy="1005840"/>
          </a:xfrm>
          <a:prstGeom prst="rect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" y="530352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ON SUCCESS CRITERIA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5513832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3A3A3C"/>
                </a:solidFill>
                <a:latin typeface="Calibri"/>
              </a:defRPr>
            </a:pPr>
            <a:r>
              <a:t>“I want one workflow measurably faster, measurably more accurate, with no regression in dealer satisfaction scores.”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557784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1C1C1E"/>
                </a:solidFill>
                <a:latin typeface="Calibri"/>
              </a:defRPr>
            </a:pPr>
            <a:r>
              <a:t>→ Aligns with our 90-day pilot targets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64008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APPENDIX A2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Phasing, talent, and organizational enablers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440680" cy="2240280"/>
          </a:xfrm>
          <a:prstGeom prst="roundRect">
            <a:avLst>
              <a:gd name="adj" fmla="val 4000"/>
            </a:avLst>
          </a:prstGeom>
          <a:solidFill>
            <a:srgbClr val="FDF0F2"/>
          </a:solidFill>
          <a:ln w="12700">
            <a:solidFill>
              <a:srgbClr val="E51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463040"/>
            <a:ext cx="4983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t>Phase 1: Support Pilot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169164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E51937"/>
                </a:solidFill>
                <a:latin typeface="Calibri"/>
              </a:defRPr>
            </a:pPr>
            <a:r>
              <a:t>0-90 days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965960"/>
            <a:ext cx="4983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1 integration engineer (internal or contractor)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1 product owner from support organization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Zendesk AI + Amazon Kendra + Bedrock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No new AI/ML hires required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1371600"/>
            <a:ext cx="5440680" cy="2240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29400" y="1463040"/>
            <a:ext cx="4983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t>Phase 2: Data Foundation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169164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90-180 days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1965960"/>
            <a:ext cx="4983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Add product managers and QA capacity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Unified data layer linking CRM + inventory + telemetry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AWS SageMaker for forecasting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ERP system evaluation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840480"/>
            <a:ext cx="5440680" cy="2240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931920"/>
            <a:ext cx="4983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t>Phase 3: Revenue Acceleration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16052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180-365 days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4434840"/>
            <a:ext cx="4983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Salesforce Einstein/Agentforce for OEM proposals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Compatibility rules engine for recommendations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Cross-functional product + sales alignment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Expected $2.5M from 1% win-rate improvement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0" y="3840480"/>
            <a:ext cx="5440680" cy="2240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29400" y="3931920"/>
            <a:ext cx="4983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t>Phase 4: AI-First Culture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9400" y="416052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Year 2+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29400" y="4434840"/>
            <a:ext cx="4983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AXS Intelligence Platform development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Digital twin and generative design capability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Predictive maintenance subscription model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AI-adjusted component performance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64008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APPENDIX A3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