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194560"/>
            <a:ext cx="109728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40"/>
              </a:spcAft>
              <a:defRPr sz="4400" b="1">
                <a:solidFill>
                  <a:srgbClr val="1C1C1E"/>
                </a:solidFill>
                <a:latin typeface="Calibri"/>
              </a:defRPr>
            </a:pPr>
            <a:r>
              <a:t>SRAM LLC</a:t>
            </a:r>
          </a:p>
          <a:p>
            <a:pPr>
              <a:spcAft>
                <a:spcPts val="1560"/>
              </a:spcAft>
              <a:defRPr sz="2600" b="0">
                <a:solidFill>
                  <a:srgbClr val="767676"/>
                </a:solidFill>
                <a:latin typeface="Calibri"/>
              </a:defRPr>
            </a:pPr>
            <a:r>
              <a:t>AI Adoption Playbook</a:t>
            </a:r>
          </a:p>
          <a:p>
            <a:pPr>
              <a:spcAft>
                <a:spcPts val="600"/>
              </a:spcAft>
              <a:defRPr sz="1000" b="0">
                <a:solidFill>
                  <a:srgbClr val="767676"/>
                </a:solidFill>
                <a:latin typeface="Calibri"/>
              </a:defRPr>
            </a:pPr>
          </a:p>
          <a:p>
            <a:pPr>
              <a:spcAft>
                <a:spcPts val="960"/>
              </a:spcAft>
              <a:defRPr sz="1600" b="0">
                <a:solidFill>
                  <a:srgbClr val="3A3A3C"/>
                </a:solidFill>
                <a:latin typeface="Calibri"/>
              </a:defRPr>
            </a:pPr>
            <a:r>
              <a:t>A $10M opportunity starting with a 90-day pilot</a:t>
            </a:r>
          </a:p>
          <a:p>
            <a:pPr>
              <a:spcAft>
                <a:spcPts val="480"/>
              </a:spcAft>
              <a:defRPr sz="800" b="0">
                <a:solidFill>
                  <a:srgbClr val="767676"/>
                </a:solidFill>
                <a:latin typeface="Calibri"/>
              </a:defRPr>
            </a:pPr>
          </a:p>
          <a:p>
            <a:pPr>
              <a:spcAft>
                <a:spcPts val="780"/>
              </a:spcAft>
              <a:defRPr sz="1300" b="0">
                <a:solidFill>
                  <a:srgbClr val="767676"/>
                </a:solidFill>
                <a:latin typeface="Calibri"/>
              </a:defRPr>
            </a:pPr>
            <a:r>
              <a:t>Prepared for Executive Leadership  |  March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AIML 950  |  Human and Machine Intelligence  |  Northwestern Kellogg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WHAT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SRAM's connected ecosystem is unmatched in cycling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Private, Chicago-founded. Second-largest bicycle component manufacturer globally. Dominant in mountain bike. Seven brands, three channels.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$1B+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Private, not disclosed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82880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965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BRANDS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194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651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Integrated portfolio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82880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1965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MTB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194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651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Market leader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82880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965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TRUSTPILOT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194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C43B4F"/>
                </a:solidFill>
                <a:latin typeface="Calibri"/>
              </a:defRPr>
            </a:pPr>
            <a:r>
              <a:t>1.6 / 5.0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651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Support-driven churn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461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The Connected Ecosystem (no competitor matches this breadth)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657600"/>
            <a:ext cx="16916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73075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SRAM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02336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Drivetrains</a:t>
            </a:r>
            <a:br/>
            <a:r>
              <a:t>+ Braking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2441448" y="406908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606039" y="3657600"/>
            <a:ext cx="16916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199" y="373075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RockShox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199" y="402336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Suspension</a:t>
            </a:r>
          </a:p>
        </p:txBody>
      </p:sp>
      <p:sp>
        <p:nvSpPr>
          <p:cNvPr id="30" name="Isosceles Triangle 29"/>
          <p:cNvSpPr/>
          <p:nvPr/>
        </p:nvSpPr>
        <p:spPr>
          <a:xfrm rot="5400000">
            <a:off x="4315967" y="406908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80559" y="3657600"/>
            <a:ext cx="16916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19" y="373075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Zipp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19" y="402336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Wheels +</a:t>
            </a:r>
            <a:br/>
            <a:r>
              <a:t>Cockpit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6190487" y="406908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55079" y="3657600"/>
            <a:ext cx="16916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39" y="373075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Quarq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39" y="402336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Power</a:t>
            </a:r>
            <a:br/>
            <a:r>
              <a:t>Meters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8065007" y="406908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29600" y="3657600"/>
            <a:ext cx="16916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373075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Hammerhead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02336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Cycling</a:t>
            </a:r>
            <a:br/>
            <a:r>
              <a:t>Computer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9939528" y="406908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104120" y="3657600"/>
            <a:ext cx="16916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41280" y="373075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402336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Pedals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4892040"/>
            <a:ext cx="11064240" cy="320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7280" y="491032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AXS Wireless Ecosystem  |  All connected, all generating data, all controlled through one platform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5394960"/>
            <a:ext cx="110642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1520" y="5394960"/>
            <a:ext cx="50800" cy="77724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60" y="5486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3A3A3C"/>
                </a:solidFill>
                <a:latin typeface="Calibri"/>
              </a:defRPr>
            </a:pPr>
            <a:r>
              <a:t>“A Shimano rider uses the app to check compatibility. A Hammerhead rider uses it to train, navigate, and communicate with their component stack. That is a fundamentally different data relationship.”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58978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Jordan Hartsell, VP Digital Products, SRAM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WHERE AI ADDS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12 AI initiatives across four business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Every function at SRAM has AI potential. Ordered by implementation complexity and time to return.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Quick 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Medium Effort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Long-Term Bet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801368"/>
            <a:ext cx="9189720" cy="254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11338560" y="1746504"/>
            <a:ext cx="137160" cy="128016"/>
          </a:xfrm>
          <a:prstGeom prst="triangle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920240"/>
            <a:ext cx="50800" cy="96012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9456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t>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1920240"/>
            <a:ext cx="2926080" cy="96012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E5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4560" y="1920240"/>
            <a:ext cx="50800" cy="96012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199339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51937"/>
                </a:solidFill>
                <a:latin typeface="Calibri"/>
              </a:defRPr>
            </a:pPr>
            <a:r>
              <a:t>RECOMMENDED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194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AI Support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70% of dealer questions are repetitive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1920240"/>
            <a:ext cx="29260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2194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Warranty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Fraudulent and mis-filed claims cost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920240"/>
            <a:ext cx="29260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194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Compatibility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Riders get wrong parts, return them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017520"/>
            <a:ext cx="50800" cy="9601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2918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5B8C5A"/>
                </a:solidFill>
                <a:latin typeface="Calibri"/>
              </a:defRPr>
            </a:pPr>
            <a:r>
              <a:t>SUPPLY CHAIN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94560" y="3017520"/>
            <a:ext cx="29260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3291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Demand Forecasting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3611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No forecasting system exists today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57800" y="3017520"/>
            <a:ext cx="29260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3291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Inventory Allocation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3611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Stockouts and rush shipping losses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40" y="3017520"/>
            <a:ext cx="29260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3291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Customer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611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Shopify data is siloed, unused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114800"/>
            <a:ext cx="50800" cy="960120"/>
          </a:xfrm>
          <a:prstGeom prst="rect">
            <a:avLst/>
          </a:prstGeom>
          <a:solidFill>
            <a:srgbClr val="8B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38912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B6D2E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94560" y="4114800"/>
            <a:ext cx="29260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774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OEM Proposal Automation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Proposal cycles are slow, manual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57800" y="4114800"/>
            <a:ext cx="29260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4068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Part Recommendations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No guided upsell at point of service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0" y="4114800"/>
            <a:ext cx="29260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DTC Personalization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Velocio has no targeting capability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212079"/>
            <a:ext cx="50800" cy="960120"/>
          </a:xfrm>
          <a:prstGeom prst="rect">
            <a:avLst/>
          </a:prstGeom>
          <a:solidFill>
            <a:srgbClr val="7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5486399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A5C8A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94560" y="5212079"/>
            <a:ext cx="29260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77440" y="548639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Generative Design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40" y="58064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Physical testing is slow and expensive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57800" y="5212079"/>
            <a:ext cx="29260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40680" y="548639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AXS Intelligence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40680" y="58064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Telemetry data is collected but unused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21040" y="5212079"/>
            <a:ext cx="29260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03920" y="548639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AI-Tuned Components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58064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Suspension and shifting are static</a:t>
            </a:r>
          </a:p>
        </p:txBody>
      </p:sp>
      <p:sp>
        <p:nvSpPr>
          <p:cNvPr id="57" name="Oval 56"/>
          <p:cNvSpPr/>
          <p:nvPr/>
        </p:nvSpPr>
        <p:spPr>
          <a:xfrm>
            <a:off x="731520" y="6400800"/>
            <a:ext cx="109728" cy="109728"/>
          </a:xfrm>
          <a:prstGeom prst="ellipse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" y="635508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SUPPORT</a:t>
            </a:r>
          </a:p>
        </p:txBody>
      </p:sp>
      <p:sp>
        <p:nvSpPr>
          <p:cNvPr id="59" name="Oval 58"/>
          <p:cNvSpPr/>
          <p:nvPr/>
        </p:nvSpPr>
        <p:spPr>
          <a:xfrm>
            <a:off x="2194560" y="6400800"/>
            <a:ext cx="109728" cy="109728"/>
          </a:xfrm>
          <a:prstGeom prst="ellipse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40864" y="635508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SUPPLY CHAIN</a:t>
            </a:r>
          </a:p>
        </p:txBody>
      </p:sp>
      <p:sp>
        <p:nvSpPr>
          <p:cNvPr id="61" name="Oval 60"/>
          <p:cNvSpPr/>
          <p:nvPr/>
        </p:nvSpPr>
        <p:spPr>
          <a:xfrm>
            <a:off x="3657600" y="6400800"/>
            <a:ext cx="109728" cy="109728"/>
          </a:xfrm>
          <a:prstGeom prst="ellipse">
            <a:avLst/>
          </a:prstGeom>
          <a:solidFill>
            <a:srgbClr val="8B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03904" y="635508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63" name="Oval 62"/>
          <p:cNvSpPr/>
          <p:nvPr/>
        </p:nvSpPr>
        <p:spPr>
          <a:xfrm>
            <a:off x="5120640" y="6400800"/>
            <a:ext cx="109728" cy="109728"/>
          </a:xfrm>
          <a:prstGeom prst="ellipse">
            <a:avLst/>
          </a:prstGeom>
          <a:solidFill>
            <a:srgbClr val="7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66944" y="635508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Support quality drives churn, not product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Riders love SRAM hardware. They struggle with firmware, compatibility, and warranty resolution.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29184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TRUSTPILOT RATING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C43B4F"/>
                </a:solidFill>
                <a:latin typeface="Calibri"/>
              </a:defRPr>
            </a:pPr>
            <a:r>
              <a:t>1.6 / 5.0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Warranty friction and support delays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83080"/>
            <a:ext cx="329184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202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AUTOMATABLE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488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~70%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060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Follow repeatable, documented patterns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783080"/>
            <a:ext cx="365760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920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TOP COMPLAINTS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148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C43B4F"/>
                </a:solidFill>
                <a:latin typeface="Calibri"/>
              </a:defRPr>
            </a:pPr>
            <a:r>
              <a:t>Firmware + Pairing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606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Reddit, app stores, Trustpilot 2024-2025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37560"/>
            <a:ext cx="50292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474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Customer Pain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79476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Trustpilot reviews cite warranty frustration and delays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Reddit 2024-25 threads on pairing failures and shifting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App store reviews flag AXS and Hammerhead bugs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Riders explicitly stating intent to switch to Shimano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3337560"/>
            <a:ext cx="54864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474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Why SRAM Can Fix This with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947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Structured knowledge base with manuals and guides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AXS telemetry data on firmware, error codes, device state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Hammerhead ride and device diagnostic data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60-70% data-ready for AXS/Hammerhead support (per VP)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76072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760720"/>
            <a:ext cx="50800" cy="64008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85216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3A3A3C"/>
                </a:solidFill>
                <a:latin typeface="Calibri"/>
              </a:defRPr>
            </a:pPr>
            <a:r>
              <a:t>“The first question I ask anyone skeptical about AI is: do you want to spend your day searching a 200-page compatibility PDF, or do you want to spend it talking to dealers?”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126480"/>
            <a:ext cx="10241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Jordan Hartsell, VP Digital Products, SRAM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A 90-day pilot with human approval on every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508760"/>
            <a:ext cx="320040" cy="32004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5F3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TICKET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Dealer or rider</a:t>
            </a:r>
            <a:br/>
            <a:r>
              <a:t>submits via Zendesk</a:t>
            </a:r>
          </a:p>
        </p:txBody>
      </p:sp>
      <p:sp>
        <p:nvSpPr>
          <p:cNvPr id="9" name="Isosceles Triangle 8"/>
          <p:cNvSpPr/>
          <p:nvPr/>
        </p:nvSpPr>
        <p:spPr>
          <a:xfrm rot="5400000">
            <a:off x="2715768" y="214884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71800" y="13716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0" y="1508760"/>
            <a:ext cx="320040" cy="32004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5F3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92024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AI RETRIEVES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19456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Amazon Kendra</a:t>
            </a:r>
            <a:br/>
            <a:r>
              <a:t>finds approved docs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4956048" y="214884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12080" y="13716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49240" y="1508760"/>
            <a:ext cx="320040" cy="32004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5F3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192024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AI DRAFTS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19456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Amazon Bedrock</a:t>
            </a:r>
            <a:br/>
            <a:r>
              <a:t>from knowledge base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7196328" y="214884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52360" y="13716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89520" y="1508760"/>
            <a:ext cx="320040" cy="32004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5F3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92024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HUMAN REVIEWS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19456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Agent approves</a:t>
            </a:r>
            <a:br/>
            <a:r>
              <a:t>before sending</a:t>
            </a:r>
          </a:p>
        </p:txBody>
      </p:sp>
      <p:sp>
        <p:nvSpPr>
          <p:cNvPr id="24" name="Isosceles Triangle 23"/>
          <p:cNvSpPr/>
          <p:nvPr/>
        </p:nvSpPr>
        <p:spPr>
          <a:xfrm rot="5400000">
            <a:off x="9436608" y="214884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92640" y="13716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9800" y="1508760"/>
            <a:ext cx="320040" cy="32004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5F3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192024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QUALITY LOGGED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19456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Metrics tracked;</a:t>
            </a:r>
            <a:br/>
            <a:r>
              <a:t>weekly review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520440"/>
            <a:ext cx="530352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Pilot 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977639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AXS drivetrain + Hammerhead device support only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Dealer inbox and high-volume web forms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Compatibility and firmware issues first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Human approval on all customer-facing responses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520440"/>
            <a:ext cx="530352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Risk Controls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977639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Human approval for warranty and safety decisions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Answers sourced from approved docs only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Weekly quality review with rollback trigger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No automated warranty adjudication in Phase 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6035040"/>
            <a:ext cx="1078992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6035040"/>
            <a:ext cx="50800" cy="50292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6126480"/>
            <a:ext cx="10241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3A3A3C"/>
                </a:solidFill>
                <a:latin typeface="Calibri"/>
              </a:defRPr>
            </a:pPr>
            <a:r>
              <a:t>“I would rather shut it down and restart than defend a mistake to Ken.”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6263640"/>
            <a:ext cx="10241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Jordan Hartsell on the pull-the-plug criteria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Five SMART goals define pilot success at day 90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Hartsell set the bar: "One workflow measurably faster, measurably more accurate, with no regression in dealer satisfaction scores."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86868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56232"/>
            <a:ext cx="457200" cy="320040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288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Cut first-response time by 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28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51937"/>
                </a:solidFill>
                <a:latin typeface="Calibri"/>
              </a:defRPr>
            </a:pPr>
            <a:r>
              <a:t>-40%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8562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vs. current SLA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6712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Reduce average time-to-first-response on AXS and Hammerhead dealer support tickets by 40% within 90 days, measured weekly against the pre-pilot SLA baseline in Zendesk.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70632"/>
            <a:ext cx="457200" cy="320040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432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Resolve 15% more tickets without escalation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743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51937"/>
                </a:solidFill>
                <a:latin typeface="Calibri"/>
              </a:defRPr>
            </a:pPr>
            <a:r>
              <a:t>+15 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7706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vs. current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08152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Increase the share of tickets resolved without escalation by 15 percentage points within 90 days, measured weekly against the current escalation rate.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66160"/>
            <a:ext cx="10698480" cy="86868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3685032"/>
            <a:ext cx="457200" cy="320040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6576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Reach 70%+ AI draft acceptance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51937"/>
                </a:solidFill>
                <a:latin typeface="Calibri"/>
              </a:defRPr>
            </a:pPr>
            <a:r>
              <a:t>&gt;70%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6850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agent acceptance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99592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Achieve a 70% or higher rate of support agents approving the AI-drafted response (with minor or no edits) by day 90. Below 50% at day 45 triggers a scope review.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599432"/>
            <a:ext cx="457200" cy="320040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5720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Increase agent throughput by 25%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51937"/>
                </a:solidFill>
                <a:latin typeface="Calibri"/>
              </a:defRPr>
            </a:pPr>
            <a:r>
              <a:t>+25%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5994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tickets/agent/day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91032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Raise tickets handled per agent per day by 25% within 90 days. Confirms AI assistance translates into real productivity.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394960"/>
            <a:ext cx="10698480" cy="86868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8680" y="5513832"/>
            <a:ext cx="457200" cy="320040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486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Hold customer satisfaction flat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5486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51937"/>
                </a:solidFill>
                <a:latin typeface="Calibri"/>
              </a:defRPr>
            </a:pPr>
            <a:r>
              <a:t>No decline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55138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CSAT holds flat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82472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Maintain or improve CSAT scores on AI-assisted tickets. Any sustained decline triggers rollback. Trustpilot (1.6/5.0) should stabilize by day 90.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6355080"/>
            <a:ext cx="10789920" cy="320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6355080"/>
            <a:ext cx="50800" cy="32004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6446520"/>
            <a:ext cx="1024128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3A3A3C"/>
                </a:solidFill>
                <a:latin typeface="Calibri"/>
              </a:defRPr>
            </a:pPr>
            <a:r>
              <a:t>“Kill criteria: 2 weeks of quality degradation, any safety error reaching a dealer without review, or dealer opt-out above 15%.”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6400800"/>
            <a:ext cx="10241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90-day pilot mapped to SMART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1280160"/>
            <a:ext cx="259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Month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0" y="1280160"/>
            <a:ext cx="259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Month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39200" y="1280160"/>
            <a:ext cx="259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Month 3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8400" y="1508760"/>
            <a:ext cx="12700" cy="45720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39200" y="1508760"/>
            <a:ext cx="12700" cy="45720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10698480" cy="347472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Setup +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609344"/>
            <a:ext cx="2590800" cy="219456"/>
          </a:xfrm>
          <a:prstGeom prst="roundRect">
            <a:avLst>
              <a:gd name="adj" fmla="val 15000"/>
            </a:avLst>
          </a:prstGeom>
          <a:solidFill>
            <a:srgbClr val="D4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609344"/>
            <a:ext cx="240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1C1C1E"/>
                </a:solidFill>
                <a:latin typeface="Calibri"/>
              </a:defRPr>
            </a:pPr>
            <a:r>
              <a:t>Zendesk + Kendra + Bedrock integration; baseline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9476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Knowledge Base Indexing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1956816"/>
            <a:ext cx="1813560" cy="219456"/>
          </a:xfrm>
          <a:prstGeom prst="roundRect">
            <a:avLst>
              <a:gd name="adj" fmla="val 15000"/>
            </a:avLst>
          </a:prstGeom>
          <a:solidFill>
            <a:srgbClr val="D4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249424"/>
            <a:ext cx="10698480" cy="347472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2951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AI Draft Rollout (AXS)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29514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51937"/>
                </a:solidFill>
                <a:latin typeface="Calibri"/>
              </a:defRPr>
            </a:pPr>
            <a:r>
              <a:t>G3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71160" y="2304288"/>
            <a:ext cx="3368040" cy="219456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62600" y="2304288"/>
            <a:ext cx="3185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Calibri"/>
              </a:defRPr>
            </a:pPr>
            <a:r>
              <a:t>AI drafts responses; agents review 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64261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AI Draft Rollout (Hammerhead)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64261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51937"/>
                </a:solidFill>
                <a:latin typeface="Calibri"/>
              </a:defRPr>
            </a:pPr>
            <a:r>
              <a:t>G3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2651760"/>
            <a:ext cx="2590800" cy="219456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651760"/>
            <a:ext cx="240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Calibri"/>
              </a:defRPr>
            </a:pPr>
            <a:r>
              <a:t>Expand to Hammerhead device tickets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2944368"/>
            <a:ext cx="10698480" cy="347472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9900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Response Time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299008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51937"/>
                </a:solidFill>
                <a:latin typeface="Calibri"/>
              </a:defRPr>
            </a:pPr>
            <a:r>
              <a:t>G1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53000" y="2999232"/>
            <a:ext cx="6477000" cy="219456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4440" y="2999232"/>
            <a:ext cx="6294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Calibri"/>
              </a:defRPr>
            </a:pPr>
            <a:r>
              <a:t>Weekly measurement vs. SLA 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3375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Escalation Rate Tracking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33375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51937"/>
                </a:solidFill>
                <a:latin typeface="Calibri"/>
              </a:defRPr>
            </a:pPr>
            <a:r>
              <a:t>G2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53000" y="3346704"/>
            <a:ext cx="6477000" cy="219456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44440" y="3346704"/>
            <a:ext cx="6294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Calibri"/>
              </a:defRPr>
            </a:pPr>
            <a:r>
              <a:t>Weekly measurement vs. baseline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639312"/>
            <a:ext cx="10698480" cy="347472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6850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Throughput Measurement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368503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51937"/>
                </a:solidFill>
                <a:latin typeface="Calibri"/>
              </a:defRPr>
            </a:pPr>
            <a:r>
              <a:t>G4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8400" y="3694176"/>
            <a:ext cx="5181600" cy="219456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9840" y="3694176"/>
            <a:ext cx="499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Calibri"/>
              </a:defRPr>
            </a:pPr>
            <a:r>
              <a:t>Tickets/agent/day tracked weekly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0325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CSAT Monitoring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403250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51937"/>
                </a:solidFill>
                <a:latin typeface="Calibri"/>
              </a:defRPr>
            </a:pPr>
            <a:r>
              <a:t>G5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53000" y="4041648"/>
            <a:ext cx="6477000" cy="219456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44440" y="4041648"/>
            <a:ext cx="6294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Calibri"/>
              </a:defRPr>
            </a:pPr>
            <a:r>
              <a:t>No decline for 2 consecutive periods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4334256"/>
            <a:ext cx="10698480" cy="347472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37997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Weekly Quality Reviews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53000" y="4389120"/>
            <a:ext cx="6477000" cy="219456"/>
          </a:xfrm>
          <a:prstGeom prst="roundRect">
            <a:avLst>
              <a:gd name="adj" fmla="val 15000"/>
            </a:avLst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44440" y="4389120"/>
            <a:ext cx="6294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1C1C1E"/>
                </a:solidFill>
                <a:latin typeface="Calibri"/>
              </a:defRPr>
            </a:pPr>
            <a:r>
              <a:t>Rollback trigger if quality drops 2 weeks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7274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Day-45 Checkpoint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43800" y="4736592"/>
            <a:ext cx="388620" cy="219456"/>
          </a:xfrm>
          <a:prstGeom prst="roundRect">
            <a:avLst>
              <a:gd name="adj" fmla="val 15000"/>
            </a:avLst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31520" y="5029200"/>
            <a:ext cx="10698480" cy="347472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0749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Day-90 Go/No-Go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041380" y="5084064"/>
            <a:ext cx="388620" cy="219456"/>
          </a:xfrm>
          <a:prstGeom prst="roundRect">
            <a:avLst>
              <a:gd name="adj" fmla="val 15000"/>
            </a:avLst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486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G1-G5 = SMART Goals  |  Day-45 checkpoint triggers scope review if draft acceptance &lt; 50%  |  Day-90 is the formal go/no-go decision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897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Full Year-1 Phasing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00400" y="5897880"/>
            <a:ext cx="2057400" cy="228600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91840" y="58978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Calibri"/>
              </a:defRPr>
            </a:pPr>
            <a:r>
              <a:t>Phase 1: Support Pilot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257800" y="5897880"/>
            <a:ext cx="2057400" cy="228600"/>
          </a:xfrm>
          <a:prstGeom prst="roundRect">
            <a:avLst>
              <a:gd name="adj" fmla="val 15000"/>
            </a:avLst>
          </a:prstGeom>
          <a:solidFill>
            <a:srgbClr val="D4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49240" y="58978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1C1C1E"/>
                </a:solidFill>
                <a:latin typeface="Calibri"/>
              </a:defRPr>
            </a:pPr>
            <a:r>
              <a:t>Phase 2: Data Foundation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0" y="5897880"/>
            <a:ext cx="4114800" cy="228600"/>
          </a:xfrm>
          <a:prstGeom prst="roundRect">
            <a:avLst>
              <a:gd name="adj" fmla="val 15000"/>
            </a:avLst>
          </a:prstGeom>
          <a:solidFill>
            <a:srgbClr val="D4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06640" y="5897880"/>
            <a:ext cx="3977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1C1C1E"/>
                </a:solidFill>
                <a:latin typeface="Calibri"/>
              </a:defRPr>
            </a:pPr>
            <a:r>
              <a:t>Phase 3: Revenue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RETURN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$10.2M net value in Year 1 on $2.7M spend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Support Pilot Savings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3A3C"/>
                </a:solidFill>
                <a:latin typeface="Calibri"/>
              </a:defRPr>
            </a:pPr>
            <a:r>
              <a:t>120 support staff x $90K avg. cost</a:t>
            </a:r>
            <a:br/>
            <a:r>
              <a:t>x 60% AI-addressable work</a:t>
            </a:r>
            <a:br/>
            <a:r>
              <a:t>x 35% productivity gain</a:t>
            </a:r>
            <a:br/>
            <a:r>
              <a:t>x 70% adoption</a:t>
            </a:r>
            <a:br/>
            <a:r>
              <a:t>= $1.6M Year-1 support savings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Scenario Range (All Phases)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029200" cy="4572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67676"/>
                </a:solidFill>
                <a:latin typeface="Calibri"/>
              </a:defRPr>
            </a:pPr>
            <a:r>
              <a:t>Conservative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C1C1E"/>
                </a:solidFill>
                <a:latin typeface="Calibri"/>
              </a:defRPr>
            </a:pPr>
            <a:r>
              <a:t>$4.5M 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67676"/>
                </a:solidFill>
                <a:latin typeface="Calibri"/>
              </a:defRPr>
            </a:pPr>
            <a:r>
              <a:t>2.8x ROI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67676"/>
                </a:solidFill>
                <a:latin typeface="Calibri"/>
              </a:defRPr>
            </a:pPr>
            <a:r>
              <a:t>Expected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343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C1C1E"/>
                </a:solidFill>
                <a:latin typeface="Calibri"/>
              </a:defRPr>
            </a:pPr>
            <a:r>
              <a:t>$10.2M 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343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67676"/>
                </a:solidFill>
                <a:latin typeface="Calibri"/>
              </a:defRPr>
            </a:pPr>
            <a:r>
              <a:t>3.8x ROI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00600"/>
            <a:ext cx="5029200" cy="4572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67676"/>
                </a:solidFill>
                <a:latin typeface="Calibri"/>
              </a:defRPr>
            </a:pPr>
            <a:r>
              <a:t>Upside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846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C1C1E"/>
                </a:solidFill>
                <a:latin typeface="Calibri"/>
              </a:defRPr>
            </a:pPr>
            <a:r>
              <a:t>$22.5M 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67676"/>
                </a:solidFill>
                <a:latin typeface="Calibri"/>
              </a:defRPr>
            </a:pPr>
            <a:r>
              <a:t>6.4x ROI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Year-1 Financial Impact (All Phases)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737360"/>
            <a:ext cx="256032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18745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NET YEAR-1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103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$10.2M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560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Expected case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1737360"/>
            <a:ext cx="256032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18745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RETURN ON SPEND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103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3.8x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560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On $2.7M total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01752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 b="1">
                <a:solidFill>
                  <a:srgbClr val="1C1C1E"/>
                </a:solidFill>
                <a:latin typeface="Calibri"/>
              </a:defRPr>
            </a:pPr>
            <a:r>
              <a:t>Cost Reductions</a:t>
            </a:r>
          </a:p>
          <a:p>
            <a:pPr>
              <a:spcAft>
                <a:spcPts val="439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Support automation savings: $1.6M</a:t>
            </a:r>
          </a:p>
          <a:p>
            <a:pPr>
              <a:spcAft>
                <a:spcPts val="439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Demand forecasting savings: $1.6M</a:t>
            </a:r>
          </a:p>
          <a:p>
            <a:pPr>
              <a:spcAft>
                <a:spcPts val="439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Documentation and translation: $0.24M</a:t>
            </a:r>
          </a:p>
          <a:p>
            <a:pPr>
              <a:spcAft>
                <a:spcPts val="199"/>
              </a:spcAft>
              <a:defRPr sz="500" b="0">
                <a:solidFill>
                  <a:srgbClr val="767676"/>
                </a:solidFill>
                <a:latin typeface="Calibri"/>
              </a:defRPr>
            </a:pPr>
          </a:p>
          <a:p>
            <a:pPr>
              <a:spcAft>
                <a:spcPts val="519"/>
              </a:spcAft>
              <a:defRPr sz="1300" b="1">
                <a:solidFill>
                  <a:srgbClr val="1C1C1E"/>
                </a:solidFill>
                <a:latin typeface="Calibri"/>
              </a:defRPr>
            </a:pPr>
            <a:r>
              <a:t>Revenue Growth</a:t>
            </a:r>
          </a:p>
          <a:p>
            <a:pPr>
              <a:spcAft>
                <a:spcPts val="439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Customer retention: $3.0M</a:t>
            </a:r>
          </a:p>
          <a:p>
            <a:pPr>
              <a:spcAft>
                <a:spcPts val="439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Package size increase: $4.0M</a:t>
            </a:r>
          </a:p>
          <a:p>
            <a:pPr>
              <a:spcAft>
                <a:spcPts val="439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Proposal win rate: $2.5M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5303520"/>
            <a:ext cx="5303520" cy="77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53492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1C1C1E"/>
                </a:solidFill>
                <a:latin typeface="Calibri"/>
              </a:defRPr>
            </a:pPr>
            <a:r>
              <a:t>Gross value: $12.9M</a:t>
            </a:r>
          </a:p>
          <a:p>
            <a:pPr>
              <a:spcAft>
                <a:spcPts val="329"/>
              </a:spcAft>
              <a:defRPr sz="1100" b="0">
                <a:solidFill>
                  <a:srgbClr val="767676"/>
                </a:solidFill>
                <a:latin typeface="Calibri"/>
              </a:defRPr>
            </a:pPr>
            <a:r>
              <a:t>Setup + operating costs: ($2.7M)</a:t>
            </a:r>
          </a:p>
          <a:p>
            <a:pPr>
              <a:spcAft>
                <a:spcPts val="389"/>
              </a:spcAft>
              <a:defRPr sz="1300" b="1">
                <a:solidFill>
                  <a:srgbClr val="1C1C1E"/>
                </a:solidFill>
                <a:latin typeface="Calibri"/>
              </a:defRPr>
            </a:pPr>
            <a:r>
              <a:t>Net value: $10.2M  |  Return: 3.8x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WHAT COULD 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Hardware company to performance intelligence by 2031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Each connected SRAM product a rider buys increases the value of the data and the quality of the AI. No competitor can replicate this full-stack advantage.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606040" cy="141732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E5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51937"/>
                </a:solidFill>
                <a:latin typeface="Calibri"/>
              </a:defRPr>
            </a:pPr>
            <a:r>
              <a:t>PHASE 1  |  0-90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Support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AI-assisted support</a:t>
            </a:r>
            <a:br/>
            <a:r>
              <a:t>for AXS + Hammerhead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3355848" y="233172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1783080"/>
            <a:ext cx="260604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1874519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PHASE 2  |  90-180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1031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Data Foundation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42316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Unified data layer</a:t>
            </a:r>
            <a:br/>
            <a:r>
              <a:t>+ demand forecasting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6190488" y="233172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1783080"/>
            <a:ext cx="260604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874519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PHASE 3  |  180-365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031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Revenue Acceleration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42316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OEM automation +</a:t>
            </a:r>
            <a:br/>
            <a:r>
              <a:t>part recommendations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9025128" y="233172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35440" y="1783080"/>
            <a:ext cx="260604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1874519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PHASE 4  |  Year 2+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1031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AI-First Culture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42316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AXS Intelligence</a:t>
            </a:r>
            <a:br/>
            <a:r>
              <a:t>+ predictive maintenance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520440"/>
            <a:ext cx="544068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61188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AXS Intelligence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Unified rider dashboard: power, gearing, suspension, heart rate in one view. No competitor has the product breadth to build this.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520440"/>
            <a:ext cx="544068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61188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Predictive Maintenance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88620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Connected components predict chain and brake pad replacement before failure. Installed base becomes recurring revenue.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754880"/>
            <a:ext cx="544068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84632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AI-Tuned Performance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12064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Suspension auto-adjusts to terrain. Shifting optimizes for rider power. Products improve continuously after purchase.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754880"/>
            <a:ext cx="544068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484632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Dealer Intelligence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512064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Telemetry tells dealers which parts approach end-of-life in their area. Proactive ordering replaces reactive.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6080760"/>
            <a:ext cx="1069848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6080760"/>
            <a:ext cx="50800" cy="36576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61081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Hardware sells data access  →  Data improves performance  →  Performance sells hardware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Three actions for SRAM's CEO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600200"/>
            <a:ext cx="457200" cy="45720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5F3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6304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Launch the 90-Day Support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2880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3A3C"/>
                </a:solidFill>
                <a:latin typeface="Calibri"/>
              </a:defRPr>
            </a:pPr>
            <a:r>
              <a:t>AXS and Hammerhead dealer support. One product owner, one integration engineer. Human approval on all outputs. Weekly quality reviews with defined rollback trigger.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10515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3017520"/>
            <a:ext cx="457200" cy="45720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5F3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8803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Begin Data Infrastructure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4612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3A3C"/>
                </a:solidFill>
                <a:latin typeface="Calibri"/>
              </a:defRPr>
            </a:pPr>
            <a:r>
              <a:t>Unified data layer connecting Shopify, support systems, and telemetry. Foundation for Phase 2 forecasting and Phase 4 AXS Intelligence platform.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515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4434840"/>
            <a:ext cx="457200" cy="45720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5F3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29768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Hold Sequencing Discipline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6634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3A3C"/>
                </a:solidFill>
                <a:latin typeface="Calibri"/>
              </a:defRPr>
            </a:pPr>
            <a:r>
              <a:t>Bounded, well-defined problems first. Broader transformation after measured proof. The 90-day pilot produces data to justify or redirect every subsequent investment.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71500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715000"/>
            <a:ext cx="50800" cy="54864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74243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0"/>
              </a:spcAft>
              <a:defRPr sz="1300" b="1">
                <a:solidFill>
                  <a:srgbClr val="1C1C1E"/>
                </a:solidFill>
                <a:latin typeface="Calibri"/>
              </a:defRPr>
            </a:pPr>
            <a:r>
              <a:t>Expected Year-1 return: 3.8x on $2.7M spend</a:t>
            </a:r>
          </a:p>
          <a:p>
            <a:pPr>
              <a:spcAft>
                <a:spcPts val="220"/>
              </a:spcAft>
              <a:defRPr sz="1100" b="0">
                <a:solidFill>
                  <a:srgbClr val="767676"/>
                </a:solidFill>
                <a:latin typeface="Calibri"/>
              </a:defRPr>
            </a:pPr>
            <a:r>
              <a:t>Downside bounded by 90-day pilot  |  Upside scales with SRAM's data advantage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Financial detail across three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Conservative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Expected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Upside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19072"/>
            <a:ext cx="10515600" cy="347472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Support assistant savings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$0.5M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$1.6M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$4.3M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Forecasting + inventory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$0.7M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$1.6M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$4.5M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450592"/>
            <a:ext cx="10515600" cy="347472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Documentation + translation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$0.1M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$0.24M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$0.9M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Customer retention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$1.5M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$3.0M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$4.5M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182112"/>
            <a:ext cx="10515600" cy="347472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Package size increase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$2.0M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$4.0M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$8.0M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Proposal win-rate revenue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$1.3M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$2.5M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$3.8M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931920"/>
            <a:ext cx="10515600" cy="127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C1C1E"/>
                </a:solidFill>
                <a:latin typeface="Calibri"/>
              </a:defRPr>
            </a:pPr>
            <a:r>
              <a:t>Gross value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$6.1M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$12.9M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$26.0M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C1C1E"/>
                </a:solidFill>
                <a:latin typeface="Calibri"/>
              </a:defRPr>
            </a:pPr>
            <a:r>
              <a:t>Setup costs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($1.2M)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($2.0M)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($2.5M)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800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C1C1E"/>
                </a:solidFill>
                <a:latin typeface="Calibri"/>
              </a:defRPr>
            </a:pPr>
            <a:r>
              <a:t>Operating costs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4800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($0.4M)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4800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($0.7M)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4800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($1.0M)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166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Net Year-1 value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0" y="5166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$4.5M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5166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$10.2M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0" y="5166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$22.5M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Return on spend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7472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2.8x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3.8x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6.4x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APPENDIX A1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Interview with Jordan Hartsell, VP Digital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67676"/>
                </a:solidFill>
                <a:latin typeface="Calibri"/>
              </a:defRPr>
            </a:pPr>
            <a:r>
              <a:t>45-minute Zoom call  |  March 2026  |  Key quotes and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8992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0800" cy="100584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ON DATA READINESS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476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3A3A3C"/>
                </a:solidFill>
                <a:latin typeface="Calibri"/>
              </a:defRPr>
            </a:pPr>
            <a:r>
              <a:t>“We have good data in pockets and messy data everywhere else. If I wanted to build a support AI today, I could get it to work well for AXS and Hammerhead. The moment a dealer asks about a RockShox fork on a 2019 frame with a third-party brake, I start to sweat.”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→ Validates bounded pilot scope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80360"/>
            <a:ext cx="1078992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880360"/>
            <a:ext cx="50800" cy="100584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9260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ON ADOPTION BARRIERS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3639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3A3A3C"/>
                </a:solidFill>
                <a:latin typeface="Calibri"/>
              </a:defRPr>
            </a:pPr>
            <a:r>
              <a:t>“The resistance comes from customer-facing teams because they worry AI will produce confident-sounding wrong answers that damage dealer relationships they have spent years building.”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→ Human-in-the-loop is mandatory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69080"/>
            <a:ext cx="1078992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069080"/>
            <a:ext cx="50800" cy="100584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114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ON COMPETITIVE ADVANTAGE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2511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3A3A3C"/>
                </a:solidFill>
                <a:latin typeface="Calibri"/>
              </a:defRPr>
            </a:pPr>
            <a:r>
              <a:t>“A Shimano rider uses the app to check compatibility. A Hammerhead rider uses it to train, navigate, and communicate with their component stack. That is a fundamentally different data relationship.”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389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→ Hammerhead is SRAM's real AI moat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57800"/>
            <a:ext cx="1078992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257800"/>
            <a:ext cx="50800" cy="100584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303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ON SUCCESS CRITERIA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1383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3A3A3C"/>
                </a:solidFill>
                <a:latin typeface="Calibri"/>
              </a:defRPr>
            </a:pPr>
            <a:r>
              <a:t>“I want one workflow measurably faster, measurably more accurate, with no regression in dealer satisfaction scores.”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577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→ Aligns with our 90-day pilot targets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APPENDIX A2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Phasing, talent, and organizational enablers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40680" cy="224028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E5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Phase 1: Support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51937"/>
                </a:solidFill>
                <a:latin typeface="Calibri"/>
              </a:defRPr>
            </a:pPr>
            <a:r>
              <a:t>0-90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983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1 integration engineer (internal or contractor)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1 product owner from support organization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Zendesk AI + Amazon Kendra + Bedrock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No new AI/ML hires required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44068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46304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Phase 2: Data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6916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90-180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965960"/>
            <a:ext cx="4983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Add product managers and QA capacity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Unified data layer linking CRM + inventory + telemetry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AWS SageMaker for forecasting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ERP system evaluation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44068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3192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Phase 3: Revenue Acceleration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60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180-365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34840"/>
            <a:ext cx="4983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Salesforce Einstein/Agentforce for OEM proposals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Compatibility rules engine for recommendations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Cross-functional product + sales alignment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Expected $2.5M from 1% win-rate improvement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840480"/>
            <a:ext cx="544068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93192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Phase 4: AI-First Culture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160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Year 2+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434840"/>
            <a:ext cx="4983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AXS Intelligence Platform development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Digital twin and generative design capability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Predictive maintenance subscription model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AI-adjusted component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APPENDIX A3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