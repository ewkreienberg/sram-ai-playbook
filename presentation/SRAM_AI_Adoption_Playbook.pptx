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720"/>
              </a:spcAft>
              <a:defRPr sz="12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A3A3C"/>
                </a:solidFill>
                <a:latin typeface="Calibri"/>
              </a:defRPr>
            </a:pPr>
            <a:r>
              <a:t>Prepared for Executive Leadership</a:t>
            </a: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SRAM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C"/>
                </a:solidFill>
                <a:latin typeface="Calibri"/>
              </a:defRPr>
            </a:pPr>
            <a:r>
              <a:t>Private, Chicago-founded, $1B+ revenue. The second-largest bicycle component manufacturer globally. Dominant in mountain bike. Seven brands, three channels, one connected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3,000-5,000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Global operations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MTB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E"/>
                </a:solidFill>
                <a:latin typeface="Calibri"/>
              </a:defRPr>
            </a:pPr>
            <a:r>
              <a:t>Revenue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114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SRAM RED, Force, Rival, Eagle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0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RockShox forks and shocks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46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Zipp performance components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12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Connected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212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Hammerhead Karoo, Quarq 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Wear Parts +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577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Chains, cassettes, pads, rotors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43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Pedals + Adjacent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TIME, Velocio, Ochain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365760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E"/>
                </a:solidFill>
                <a:latin typeface="Calibri"/>
              </a:defRPr>
            </a:pPr>
            <a:r>
              <a:t>Competitive Pressure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20624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Shimano: wireless gravel (GRX RX827)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Campagnolo: 13-speed premium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microSHIFT: value mechanical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AI Initiatives Across SRAM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The map below shows initiatives by business area and the specific problem each one solves.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39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9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599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59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39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39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599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9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9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59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39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39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599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9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9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C1C1E"/>
                </a:solidFill>
                <a:latin typeface="Calibri"/>
              </a:defRPr>
            </a:pPr>
            <a:r>
              <a:t>Of these 12 initiatives, one stands out.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67676"/>
                </a:solidFill>
                <a:latin typeface="Calibri"/>
              </a:defRPr>
            </a:pPr>
            <a:r>
              <a:t>Highest pain signal. Strongest data advantage. Fastest path to proof.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3840480"/>
            <a:ext cx="57607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0" y="3840480"/>
            <a:ext cx="50800" cy="14630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39776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4251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E"/>
                </a:solidFill>
                <a:latin typeface="Calibri"/>
              </a:defRPr>
            </a:pPr>
            <a:r>
              <a:t>Customer and Dealer Support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4709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A3A3C"/>
                </a:solidFill>
                <a:latin typeface="Calibri"/>
              </a:defRPr>
            </a:pPr>
            <a:r>
              <a:t>70% of dealer questions are repetitive. Trustpilot sits at 1.6 / 5.0.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C"/>
                </a:solidFill>
                <a:latin typeface="Calibri"/>
              </a:defRPr>
            </a:pPr>
            <a:r>
              <a:t>Riders love SRAM components but struggle with firmware, compatibility, and warranty resolution. The data is clear.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Driven by warranty and support friction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DEALER QUESTIONS 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Follow repeatable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01168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834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Reddit 2024-2025: shifting, updates,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Trustpilot: warranty frustration and support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Reddit: pairing issues, firmware failures, shifting anomalies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stores: AXS and Hammerhead companion complaints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49039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E"/>
                </a:solidFill>
                <a:latin typeface="Calibri"/>
              </a:defRPr>
            </a:pPr>
            <a:r>
              <a:t>Why SRAM Has the Data to Fix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97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base: manuals, compatibility guides, troubleshooting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telemetry: firmware versions,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already documented and maintained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90-Day Support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60020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Dealer or rider submits via Zendesk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08960" y="160020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C"/>
                </a:solidFill>
                <a:latin typeface="Calibri"/>
              </a:defRPr>
            </a:pPr>
            <a:r>
              <a:t>Azure AI Search finds approved docs + AXS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160020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C"/>
                </a:solidFill>
                <a:latin typeface="Calibri"/>
              </a:defRPr>
            </a:pPr>
            <a:r>
              <a:t>OpenAI generates response from knowledge base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0" y="160020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C"/>
                </a:solidFill>
                <a:latin typeface="Calibri"/>
              </a:defRPr>
            </a:pPr>
            <a:r>
              <a:t>Agent approves before sending (100% in pilot)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29800" y="160020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C"/>
                </a:solidFill>
                <a:latin typeface="Calibri"/>
              </a:defRPr>
            </a:pPr>
            <a:r>
              <a:t>Metrics tracked; weekly review with rollback trigger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794760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794760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97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MEASURING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Pilot Metrics and Year-1 Financial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E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82880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1965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194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82880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965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194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004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automation: $1.6M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forecasting: $1.6M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Documentation: $0.24M</a:t>
            </a:r>
          </a:p>
          <a:p>
            <a:pPr>
              <a:spcAft>
                <a:spcPts val="30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65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55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  <a:p>
            <a:pPr>
              <a:spcAft>
                <a:spcPts val="30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600"/>
              </a:spcAft>
              <a:defRPr sz="1200" b="0">
                <a:solidFill>
                  <a:srgbClr val="767676"/>
                </a:solidFill>
                <a:latin typeface="Calibri"/>
              </a:defRPr>
            </a:pPr>
            <a:r>
              <a:t>Total spend: ($2.7M)</a:t>
            </a:r>
          </a:p>
          <a:p>
            <a:pPr>
              <a:spcAft>
                <a:spcPts val="600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Net value: $10.2M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2031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From Hardware Manufacturer to Performance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C"/>
                </a:solidFill>
                <a:latin typeface="Calibri"/>
              </a:defRPr>
            </a:pPr>
            <a:r>
              <a:t>SRAM's full product stack creates a data moat no competitor can replicate. The rider with SRAM drivetrain, RockShox suspension, Quarq power, and Hammerhead computer gets a unified intelligence layer impossible with mixed components.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Unified rider dashboard showing power, gearing, suspension, and heart rate in one view. No competitor has the product breadth to match this.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01168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Connected components predict chain, cassette, and brake pad replacement before failure. Installed base becomes a recurring revenue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6908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 patterns. Products improve continuously after purchase.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93192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43484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Aggregated telemetry tells dealers which parts approach end-of-life in their service area. Proactive ordering replaces reactive.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9436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989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27632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8132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2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Scope it to AXS and Hammerhead dealer support. One product owner, one integration engineer. Human approval on all outputs. Weekly quality reviews.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90672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94436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3756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Initiate requirements for a unified data layer connecting Shopify, support systems, and telemetry data. This is the foundation for forecasting and AXS Intelligence.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553712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0740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060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97880"/>
            <a:ext cx="1051560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89788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92531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C1C1E"/>
                </a:solidFill>
                <a:latin typeface="Calibri"/>
              </a:defRPr>
            </a:pPr>
            <a:r>
              <a:t>Expected Year-1 return: 3.8x  |  Downside bounded by 90-day pilot  |  Upside scales with SRAM's unique data advantage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