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1C1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371600" y="2377440"/>
            <a:ext cx="1371600" cy="38100"/>
          </a:xfrm>
          <a:prstGeom prst="rect">
            <a:avLst/>
          </a:prstGeom>
          <a:solidFill>
            <a:srgbClr val="E5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0" y="2560320"/>
            <a:ext cx="91440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640"/>
              </a:spcAft>
              <a:defRPr sz="4400" b="1">
                <a:solidFill>
                  <a:srgbClr val="FFFFFF"/>
                </a:solidFill>
                <a:latin typeface="Calibri"/>
              </a:defRPr>
            </a:pPr>
            <a:r>
              <a:t>SRAM LLC</a:t>
            </a:r>
          </a:p>
          <a:p>
            <a:pPr>
              <a:spcAft>
                <a:spcPts val="1560"/>
              </a:spcAft>
              <a:defRPr sz="2600" b="0">
                <a:solidFill>
                  <a:srgbClr val="E51937"/>
                </a:solidFill>
                <a:latin typeface="Calibri"/>
              </a:defRPr>
            </a:pPr>
            <a:r>
              <a:t>AI Adoption Playbook</a:t>
            </a:r>
          </a:p>
          <a:p>
            <a:pPr>
              <a:spcAft>
                <a:spcPts val="720"/>
              </a:spcAft>
              <a:defRPr sz="1200" b="0">
                <a:solidFill>
                  <a:srgbClr val="767676"/>
                </a:solidFill>
                <a:latin typeface="Calibri"/>
              </a:defRPr>
            </a:pPr>
          </a:p>
          <a:p>
            <a:pPr>
              <a:spcAft>
                <a:spcPts val="840"/>
              </a:spcAft>
              <a:defRPr sz="1400" b="0">
                <a:solidFill>
                  <a:srgbClr val="D9DBD8"/>
                </a:solidFill>
                <a:latin typeface="Calibri"/>
              </a:defRPr>
            </a:pPr>
            <a:r>
              <a:t>Prepared for Executive Leadership</a:t>
            </a:r>
          </a:p>
          <a:p>
            <a:pPr>
              <a:spcAft>
                <a:spcPts val="780"/>
              </a:spcAft>
              <a:defRPr sz="1300" b="0">
                <a:solidFill>
                  <a:srgbClr val="767676"/>
                </a:solidFill>
                <a:latin typeface="Calibri"/>
              </a:defRPr>
            </a:pPr>
            <a:r>
              <a:t>March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576072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67676"/>
                </a:solidFill>
                <a:latin typeface="Calibri"/>
              </a:defRPr>
            </a:pPr>
            <a:r>
              <a:t>AIML 950  |  Human and Machine Intelligence  |  Northwestern Kellogg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1C1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5486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51937"/>
                </a:solidFill>
                <a:latin typeface="Calibri"/>
              </a:defRPr>
            </a:pPr>
            <a:r>
              <a:t>WHAT 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SRAM Today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051560"/>
            <a:ext cx="914400" cy="25400"/>
          </a:xfrm>
          <a:prstGeom prst="rect">
            <a:avLst/>
          </a:prstGeom>
          <a:solidFill>
            <a:srgbClr val="E5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D9DBD8"/>
                </a:solidFill>
                <a:latin typeface="Calibri"/>
              </a:defRPr>
            </a:pPr>
            <a:r>
              <a:t>Private, Chicago-founded, $1B+ revenue. The second-largest bicycle component manufacturer globally. Dominant in mountain bike. Seven brands, three channels, one connected ecosystem.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194560"/>
            <a:ext cx="2377440" cy="1188720"/>
          </a:xfrm>
          <a:prstGeom prst="roundRect">
            <a:avLst>
              <a:gd name="adj" fmla="val 4000"/>
            </a:avLst>
          </a:prstGeom>
          <a:solidFill>
            <a:srgbClr val="2A2A2C"/>
          </a:solidFill>
          <a:ln w="12700">
            <a:solidFill>
              <a:srgbClr val="3A3A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2331720"/>
            <a:ext cx="19202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67676"/>
                </a:solidFill>
                <a:latin typeface="Calibri"/>
              </a:defRPr>
            </a:pPr>
            <a:r>
              <a:t>REVENUE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2560320"/>
            <a:ext cx="1920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E51937"/>
                </a:solidFill>
                <a:latin typeface="Calibri"/>
              </a:defRPr>
            </a:pPr>
            <a:r>
              <a:t>$1B+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3017520"/>
            <a:ext cx="19202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767676"/>
                </a:solidFill>
                <a:latin typeface="Calibri"/>
              </a:defRPr>
            </a:pPr>
            <a:r>
              <a:t>Private, not disclosed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37560" y="2194560"/>
            <a:ext cx="2377440" cy="1188720"/>
          </a:xfrm>
          <a:prstGeom prst="roundRect">
            <a:avLst>
              <a:gd name="adj" fmla="val 4000"/>
            </a:avLst>
          </a:prstGeom>
          <a:solidFill>
            <a:srgbClr val="2A2A2C"/>
          </a:solidFill>
          <a:ln w="12700">
            <a:solidFill>
              <a:srgbClr val="3A3A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66160" y="2331720"/>
            <a:ext cx="19202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67676"/>
                </a:solidFill>
                <a:latin typeface="Calibri"/>
              </a:defRPr>
            </a:pPr>
            <a:r>
              <a:t>EMPLOYEES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66160" y="2560320"/>
            <a:ext cx="1920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E51937"/>
                </a:solidFill>
                <a:latin typeface="Calibri"/>
              </a:defRPr>
            </a:pPr>
            <a:r>
              <a:t>3,000-5,000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6160" y="3017520"/>
            <a:ext cx="19202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767676"/>
                </a:solidFill>
                <a:latin typeface="Calibri"/>
              </a:defRPr>
            </a:pPr>
            <a:r>
              <a:t>Global operations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943600" y="2194560"/>
            <a:ext cx="2377440" cy="1188720"/>
          </a:xfrm>
          <a:prstGeom prst="roundRect">
            <a:avLst>
              <a:gd name="adj" fmla="val 4000"/>
            </a:avLst>
          </a:prstGeom>
          <a:solidFill>
            <a:srgbClr val="2A2A2C"/>
          </a:solidFill>
          <a:ln w="12700">
            <a:solidFill>
              <a:srgbClr val="3A3A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72200" y="2331720"/>
            <a:ext cx="19202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67676"/>
                </a:solidFill>
                <a:latin typeface="Calibri"/>
              </a:defRPr>
            </a:pPr>
            <a:r>
              <a:t>BRANDS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72200" y="2560320"/>
            <a:ext cx="1920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E51937"/>
                </a:solidFill>
                <a:latin typeface="Calibri"/>
              </a:defRPr>
            </a:pPr>
            <a:r>
              <a:t>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72200" y="3017520"/>
            <a:ext cx="19202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767676"/>
                </a:solidFill>
                <a:latin typeface="Calibri"/>
              </a:defRPr>
            </a:pPr>
            <a:r>
              <a:t>Integrated portfolio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549640" y="2194560"/>
            <a:ext cx="2377440" cy="1188720"/>
          </a:xfrm>
          <a:prstGeom prst="roundRect">
            <a:avLst>
              <a:gd name="adj" fmla="val 4000"/>
            </a:avLst>
          </a:prstGeom>
          <a:solidFill>
            <a:srgbClr val="2A2A2C"/>
          </a:solidFill>
          <a:ln w="12700">
            <a:solidFill>
              <a:srgbClr val="3A3A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778240" y="2331720"/>
            <a:ext cx="19202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67676"/>
                </a:solidFill>
                <a:latin typeface="Calibri"/>
              </a:defRPr>
            </a:pPr>
            <a:r>
              <a:t>MTB POSITION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778240" y="2560320"/>
            <a:ext cx="1920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E51937"/>
                </a:solidFill>
                <a:latin typeface="Calibri"/>
              </a:defRPr>
            </a:pPr>
            <a:r>
              <a:t>#1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778240" y="3017520"/>
            <a:ext cx="19202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767676"/>
                </a:solidFill>
                <a:latin typeface="Calibri"/>
              </a:defRPr>
            </a:pPr>
            <a:r>
              <a:t>Market leader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" y="365760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Calibri"/>
              </a:defRPr>
            </a:pPr>
            <a:r>
              <a:t>Revenue Architecture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" y="411480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Calibri"/>
              </a:defRPr>
            </a:pPr>
            <a:r>
              <a:t>Drivetrains + Braking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840480" y="4114800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767676"/>
                </a:solidFill>
                <a:latin typeface="Calibri"/>
              </a:defRPr>
            </a:pPr>
            <a:r>
              <a:t>SRAM RED, Force, Rival, Eagle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1520" y="448056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Calibri"/>
              </a:defRPr>
            </a:pPr>
            <a:r>
              <a:t>Suspension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840480" y="4480560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767676"/>
                </a:solidFill>
                <a:latin typeface="Calibri"/>
              </a:defRPr>
            </a:pPr>
            <a:r>
              <a:t>RockShox forks and shocks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31520" y="484632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Calibri"/>
              </a:defRPr>
            </a:pPr>
            <a:r>
              <a:t>Wheels + Cockpit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840480" y="4846320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767676"/>
                </a:solidFill>
                <a:latin typeface="Calibri"/>
              </a:defRPr>
            </a:pPr>
            <a:r>
              <a:t>Zipp performance components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1520" y="521208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Calibri"/>
              </a:defRPr>
            </a:pPr>
            <a:r>
              <a:t>Connected Products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840480" y="5212080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767676"/>
                </a:solidFill>
                <a:latin typeface="Calibri"/>
              </a:defRPr>
            </a:pPr>
            <a:r>
              <a:t>Hammerhead Karoo, Quarq power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31520" y="557784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Calibri"/>
              </a:defRPr>
            </a:pPr>
            <a:r>
              <a:t>Wear Parts + Service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840480" y="5577840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767676"/>
                </a:solidFill>
                <a:latin typeface="Calibri"/>
              </a:defRPr>
            </a:pPr>
            <a:r>
              <a:t>Chains, cassettes, pads, rotors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31520" y="594360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Calibri"/>
              </a:defRPr>
            </a:pPr>
            <a:r>
              <a:t>Pedals + Adjacent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840480" y="5943600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767676"/>
                </a:solidFill>
                <a:latin typeface="Calibri"/>
              </a:defRPr>
            </a:pPr>
            <a:r>
              <a:t>TIME, Velocio, Ochain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412480" y="3657600"/>
            <a:ext cx="3200400" cy="2743200"/>
          </a:xfrm>
          <a:prstGeom prst="roundRect">
            <a:avLst>
              <a:gd name="adj" fmla="val 4000"/>
            </a:avLst>
          </a:prstGeom>
          <a:solidFill>
            <a:srgbClr val="2A2A2C"/>
          </a:solidFill>
          <a:ln w="12700">
            <a:solidFill>
              <a:srgbClr val="3A3A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686800" y="379476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E3475E"/>
                </a:solidFill>
                <a:latin typeface="Calibri"/>
              </a:defRPr>
            </a:pPr>
            <a:r>
              <a:t>Competitive Pressure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686800" y="4206240"/>
            <a:ext cx="27432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  <a:defRPr sz="1100" b="0">
                <a:solidFill>
                  <a:srgbClr val="D9DBD8"/>
                </a:solidFill>
                <a:latin typeface="Calibri"/>
              </a:defRPr>
            </a:pPr>
            <a:r>
              <a:t>•  Shimano: wireless gravel (GRX RX827)</a:t>
            </a:r>
          </a:p>
          <a:p>
            <a:pPr>
              <a:spcAft>
                <a:spcPts val="1100"/>
              </a:spcAft>
              <a:defRPr sz="1100" b="0">
                <a:solidFill>
                  <a:srgbClr val="D9DBD8"/>
                </a:solidFill>
                <a:latin typeface="Calibri"/>
              </a:defRPr>
            </a:pPr>
            <a:r>
              <a:t>•  Campagnolo: 13-speed premium</a:t>
            </a:r>
          </a:p>
          <a:p>
            <a:pPr>
              <a:spcAft>
                <a:spcPts val="1100"/>
              </a:spcAft>
              <a:defRPr sz="1100" b="0">
                <a:solidFill>
                  <a:srgbClr val="D9DBD8"/>
                </a:solidFill>
                <a:latin typeface="Calibri"/>
              </a:defRPr>
            </a:pPr>
            <a:r>
              <a:t>•  microSHIFT: value mechanical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1C1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5486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51937"/>
                </a:solidFill>
                <a:latin typeface="Calibri"/>
              </a:defRPr>
            </a:pPr>
            <a:r>
              <a:t>THE OPPORTUNITY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AI Initiatives Across SRAM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051560"/>
            <a:ext cx="914400" cy="25400"/>
          </a:xfrm>
          <a:prstGeom prst="rect">
            <a:avLst/>
          </a:prstGeom>
          <a:solidFill>
            <a:srgbClr val="E5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D9DBD8"/>
                </a:solidFill>
                <a:latin typeface="Calibri"/>
              </a:defRPr>
            </a:pPr>
            <a:r>
              <a:t>Every function at SRAM has AI potential. The map below shows initiatives by business area and the specific problem each one solves.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011680"/>
            <a:ext cx="3520440" cy="960120"/>
          </a:xfrm>
          <a:prstGeom prst="roundRect">
            <a:avLst>
              <a:gd name="adj" fmla="val 4000"/>
            </a:avLst>
          </a:prstGeom>
          <a:solidFill>
            <a:srgbClr val="2A2A2C"/>
          </a:solidFill>
          <a:ln w="12700">
            <a:solidFill>
              <a:srgbClr val="3A3A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084832"/>
            <a:ext cx="1371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E51937"/>
                </a:solidFill>
                <a:latin typeface="Calibri"/>
              </a:defRPr>
            </a:pPr>
            <a:r>
              <a:t>SUPPORT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286000"/>
            <a:ext cx="3154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Calibri"/>
              </a:defRPr>
            </a:pPr>
            <a:r>
              <a:t>AI Support Agent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606040"/>
            <a:ext cx="3154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67676"/>
                </a:solidFill>
                <a:latin typeface="Calibri"/>
              </a:defRPr>
            </a:pPr>
            <a:r>
              <a:t>70% of dealer questions are repetitive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80559" y="2011680"/>
            <a:ext cx="3520440" cy="960120"/>
          </a:xfrm>
          <a:prstGeom prst="roundRect">
            <a:avLst>
              <a:gd name="adj" fmla="val 4000"/>
            </a:avLst>
          </a:prstGeom>
          <a:solidFill>
            <a:srgbClr val="2A2A2C"/>
          </a:solidFill>
          <a:ln w="12700">
            <a:solidFill>
              <a:srgbClr val="3A3A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63439" y="2084832"/>
            <a:ext cx="1371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E51937"/>
                </a:solidFill>
                <a:latin typeface="Calibri"/>
              </a:defRPr>
            </a:pPr>
            <a:r>
              <a:t>SUPPORT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39" y="2286000"/>
            <a:ext cx="3154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Calibri"/>
              </a:defRPr>
            </a:pPr>
            <a:r>
              <a:t>Warranty Automation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63439" y="2606040"/>
            <a:ext cx="3154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67676"/>
                </a:solidFill>
                <a:latin typeface="Calibri"/>
              </a:defRPr>
            </a:pPr>
            <a:r>
              <a:t>Fraudulent and mis-filed claims cost time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599" y="2011680"/>
            <a:ext cx="3520440" cy="960120"/>
          </a:xfrm>
          <a:prstGeom prst="roundRect">
            <a:avLst>
              <a:gd name="adj" fmla="val 4000"/>
            </a:avLst>
          </a:prstGeom>
          <a:solidFill>
            <a:srgbClr val="2A2A2C"/>
          </a:solidFill>
          <a:ln w="12700">
            <a:solidFill>
              <a:srgbClr val="3A3A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412479" y="2084832"/>
            <a:ext cx="1371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E51937"/>
                </a:solidFill>
                <a:latin typeface="Calibri"/>
              </a:defRPr>
            </a:pPr>
            <a:r>
              <a:t>SUPPORT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79" y="2286000"/>
            <a:ext cx="3154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Calibri"/>
              </a:defRPr>
            </a:pPr>
            <a:r>
              <a:t>Compatibility Assistant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12479" y="2606040"/>
            <a:ext cx="3154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67676"/>
                </a:solidFill>
                <a:latin typeface="Calibri"/>
              </a:defRPr>
            </a:pPr>
            <a:r>
              <a:t>Riders get wrong parts, return them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1520" y="3154680"/>
            <a:ext cx="3520440" cy="960120"/>
          </a:xfrm>
          <a:prstGeom prst="roundRect">
            <a:avLst>
              <a:gd name="adj" fmla="val 4000"/>
            </a:avLst>
          </a:prstGeom>
          <a:solidFill>
            <a:srgbClr val="2A2A2C"/>
          </a:solidFill>
          <a:ln w="12700">
            <a:solidFill>
              <a:srgbClr val="3A3A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4400" y="3227832"/>
            <a:ext cx="1371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E51937"/>
                </a:solidFill>
                <a:latin typeface="Calibri"/>
              </a:defRPr>
            </a:pPr>
            <a:r>
              <a:t>SUPPLY CHAIN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4400" y="3429000"/>
            <a:ext cx="3154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Calibri"/>
              </a:defRPr>
            </a:pPr>
            <a:r>
              <a:t>Demand Forecasting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0" y="3749040"/>
            <a:ext cx="3154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67676"/>
                </a:solidFill>
                <a:latin typeface="Calibri"/>
              </a:defRPr>
            </a:pPr>
            <a:r>
              <a:t>No forecasting system exists today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480559" y="3154680"/>
            <a:ext cx="3520440" cy="960120"/>
          </a:xfrm>
          <a:prstGeom prst="roundRect">
            <a:avLst>
              <a:gd name="adj" fmla="val 4000"/>
            </a:avLst>
          </a:prstGeom>
          <a:solidFill>
            <a:srgbClr val="2A2A2C"/>
          </a:solidFill>
          <a:ln w="12700">
            <a:solidFill>
              <a:srgbClr val="3A3A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663439" y="3227832"/>
            <a:ext cx="1371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E51937"/>
                </a:solidFill>
                <a:latin typeface="Calibri"/>
              </a:defRPr>
            </a:pPr>
            <a:r>
              <a:t>SUPPLY CHAIN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663439" y="3429000"/>
            <a:ext cx="3154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Calibri"/>
              </a:defRPr>
            </a:pPr>
            <a:r>
              <a:t>Inventory Allocation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663439" y="3749040"/>
            <a:ext cx="3154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67676"/>
                </a:solidFill>
                <a:latin typeface="Calibri"/>
              </a:defRPr>
            </a:pPr>
            <a:r>
              <a:t>Stockouts and rush shipping losses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229599" y="3154680"/>
            <a:ext cx="3520440" cy="960120"/>
          </a:xfrm>
          <a:prstGeom prst="roundRect">
            <a:avLst>
              <a:gd name="adj" fmla="val 4000"/>
            </a:avLst>
          </a:prstGeom>
          <a:solidFill>
            <a:srgbClr val="2A2A2C"/>
          </a:solidFill>
          <a:ln w="12700">
            <a:solidFill>
              <a:srgbClr val="3A3A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412479" y="3227832"/>
            <a:ext cx="1371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E51937"/>
                </a:solidFill>
                <a:latin typeface="Calibri"/>
              </a:defRPr>
            </a:pPr>
            <a:r>
              <a:t>SUPPLY CHAIN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412479" y="3429000"/>
            <a:ext cx="3154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Calibri"/>
              </a:defRPr>
            </a:pPr>
            <a:r>
              <a:t>Customer Analytics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412479" y="3749040"/>
            <a:ext cx="3154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67676"/>
                </a:solidFill>
                <a:latin typeface="Calibri"/>
              </a:defRPr>
            </a:pPr>
            <a:r>
              <a:t>Shopify data is siloed, unused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31520" y="4297680"/>
            <a:ext cx="3520440" cy="960120"/>
          </a:xfrm>
          <a:prstGeom prst="roundRect">
            <a:avLst>
              <a:gd name="adj" fmla="val 4000"/>
            </a:avLst>
          </a:prstGeom>
          <a:solidFill>
            <a:srgbClr val="2A2A2C"/>
          </a:solidFill>
          <a:ln w="12700">
            <a:solidFill>
              <a:srgbClr val="3A3A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14400" y="4370832"/>
            <a:ext cx="1371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E51937"/>
                </a:solidFill>
                <a:latin typeface="Calibri"/>
              </a:defRPr>
            </a:pPr>
            <a:r>
              <a:t>SALES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" y="4572000"/>
            <a:ext cx="3154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Calibri"/>
              </a:defRPr>
            </a:pPr>
            <a:r>
              <a:t>OEM Proposal Automation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14400" y="4892040"/>
            <a:ext cx="3154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67676"/>
                </a:solidFill>
                <a:latin typeface="Calibri"/>
              </a:defRPr>
            </a:pPr>
            <a:r>
              <a:t>Proposal cycles are slow, manual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480559" y="4297680"/>
            <a:ext cx="3520440" cy="960120"/>
          </a:xfrm>
          <a:prstGeom prst="roundRect">
            <a:avLst>
              <a:gd name="adj" fmla="val 4000"/>
            </a:avLst>
          </a:prstGeom>
          <a:solidFill>
            <a:srgbClr val="2A2A2C"/>
          </a:solidFill>
          <a:ln w="12700">
            <a:solidFill>
              <a:srgbClr val="3A3A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663439" y="4370832"/>
            <a:ext cx="1371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E51937"/>
                </a:solidFill>
                <a:latin typeface="Calibri"/>
              </a:defRPr>
            </a:pPr>
            <a:r>
              <a:t>SALES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663439" y="4572000"/>
            <a:ext cx="3154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Calibri"/>
              </a:defRPr>
            </a:pPr>
            <a:r>
              <a:t>Part Recommendations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663439" y="4892040"/>
            <a:ext cx="3154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67676"/>
                </a:solidFill>
                <a:latin typeface="Calibri"/>
              </a:defRPr>
            </a:pPr>
            <a:r>
              <a:t>No guided upsell at point of service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8229599" y="4297680"/>
            <a:ext cx="3520440" cy="960120"/>
          </a:xfrm>
          <a:prstGeom prst="roundRect">
            <a:avLst>
              <a:gd name="adj" fmla="val 4000"/>
            </a:avLst>
          </a:prstGeom>
          <a:solidFill>
            <a:srgbClr val="2A2A2C"/>
          </a:solidFill>
          <a:ln w="12700">
            <a:solidFill>
              <a:srgbClr val="3A3A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412479" y="4370832"/>
            <a:ext cx="1371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E51937"/>
                </a:solidFill>
                <a:latin typeface="Calibri"/>
              </a:defRPr>
            </a:pPr>
            <a:r>
              <a:t>SALES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412479" y="4572000"/>
            <a:ext cx="3154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Calibri"/>
              </a:defRPr>
            </a:pPr>
            <a:r>
              <a:t>DTC Personalization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412479" y="4892040"/>
            <a:ext cx="3154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67676"/>
                </a:solidFill>
                <a:latin typeface="Calibri"/>
              </a:defRPr>
            </a:pPr>
            <a:r>
              <a:t>Velocio has no targeting capability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731520" y="5440680"/>
            <a:ext cx="3520440" cy="960120"/>
          </a:xfrm>
          <a:prstGeom prst="roundRect">
            <a:avLst>
              <a:gd name="adj" fmla="val 4000"/>
            </a:avLst>
          </a:prstGeom>
          <a:solidFill>
            <a:srgbClr val="2A2A2C"/>
          </a:solidFill>
          <a:ln w="12700">
            <a:solidFill>
              <a:srgbClr val="3A3A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14400" y="5513832"/>
            <a:ext cx="1371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E51937"/>
                </a:solidFill>
                <a:latin typeface="Calibri"/>
              </a:defRPr>
            </a:pPr>
            <a:r>
              <a:t>ENGINEERING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14400" y="5715000"/>
            <a:ext cx="3154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Calibri"/>
              </a:defRPr>
            </a:pPr>
            <a:r>
              <a:t>Generative Design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14400" y="6035040"/>
            <a:ext cx="3154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67676"/>
                </a:solidFill>
                <a:latin typeface="Calibri"/>
              </a:defRPr>
            </a:pPr>
            <a:r>
              <a:t>Physical testing is slow and expensive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4480559" y="5440680"/>
            <a:ext cx="3520440" cy="960120"/>
          </a:xfrm>
          <a:prstGeom prst="roundRect">
            <a:avLst>
              <a:gd name="adj" fmla="val 4000"/>
            </a:avLst>
          </a:prstGeom>
          <a:solidFill>
            <a:srgbClr val="2A2A2C"/>
          </a:solidFill>
          <a:ln w="12700">
            <a:solidFill>
              <a:srgbClr val="3A3A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663439" y="5513832"/>
            <a:ext cx="1371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E51937"/>
                </a:solidFill>
                <a:latin typeface="Calibri"/>
              </a:defRPr>
            </a:pPr>
            <a:r>
              <a:t>ENGINEERING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663439" y="5715000"/>
            <a:ext cx="3154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Calibri"/>
              </a:defRPr>
            </a:pPr>
            <a:r>
              <a:t>AXS Intelligence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663439" y="6035040"/>
            <a:ext cx="3154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67676"/>
                </a:solidFill>
                <a:latin typeface="Calibri"/>
              </a:defRPr>
            </a:pPr>
            <a:r>
              <a:t>Telemetry data is collected but unused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8229599" y="5440680"/>
            <a:ext cx="3520440" cy="960120"/>
          </a:xfrm>
          <a:prstGeom prst="roundRect">
            <a:avLst>
              <a:gd name="adj" fmla="val 4000"/>
            </a:avLst>
          </a:prstGeom>
          <a:solidFill>
            <a:srgbClr val="2A2A2C"/>
          </a:solidFill>
          <a:ln w="12700">
            <a:solidFill>
              <a:srgbClr val="3A3A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8412479" y="5513832"/>
            <a:ext cx="1371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E51937"/>
                </a:solidFill>
                <a:latin typeface="Calibri"/>
              </a:defRPr>
            </a:pPr>
            <a:r>
              <a:t>ENGINEERING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412479" y="5715000"/>
            <a:ext cx="3154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Calibri"/>
              </a:defRPr>
            </a:pPr>
            <a:r>
              <a:t>AI-Tuned Components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412479" y="6035040"/>
            <a:ext cx="3154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67676"/>
                </a:solidFill>
                <a:latin typeface="Calibri"/>
              </a:defRPr>
            </a:pPr>
            <a:r>
              <a:t>Suspension and shifting are static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731520" y="6400800"/>
            <a:ext cx="10698480" cy="320040"/>
          </a:xfrm>
          <a:prstGeom prst="roundRect">
            <a:avLst>
              <a:gd name="adj" fmla="val 10000"/>
            </a:avLst>
          </a:prstGeom>
          <a:solidFill>
            <a:srgbClr val="2A2A2C"/>
          </a:solidFill>
          <a:ln w="12700">
            <a:solidFill>
              <a:srgbClr val="E519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1097280" y="6428232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E51937"/>
                </a:solidFill>
                <a:latin typeface="Calibri"/>
              </a:defRPr>
            </a:pPr>
            <a:r>
              <a:t>We will focus on one area with the highest uplift and fastest proof: Customer and Dealer Support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1C1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5486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51937"/>
                </a:solidFill>
                <a:latin typeface="Calibri"/>
              </a:defRPr>
            </a:pPr>
            <a:r>
              <a:t>THE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Support Quality Drives Churn, Not Product Quality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051560"/>
            <a:ext cx="914400" cy="25400"/>
          </a:xfrm>
          <a:prstGeom prst="rect">
            <a:avLst/>
          </a:prstGeom>
          <a:solidFill>
            <a:srgbClr val="E5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D9DBD8"/>
                </a:solidFill>
                <a:latin typeface="Calibri"/>
              </a:defRPr>
            </a:pPr>
            <a:r>
              <a:t>Riders love SRAM components but struggle with firmware, compatibility, and warranty resolution. The data is clear.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011680"/>
            <a:ext cx="3291840" cy="1371600"/>
          </a:xfrm>
          <a:prstGeom prst="roundRect">
            <a:avLst>
              <a:gd name="adj" fmla="val 4000"/>
            </a:avLst>
          </a:prstGeom>
          <a:solidFill>
            <a:srgbClr val="2A2A2C"/>
          </a:solidFill>
          <a:ln w="12700">
            <a:solidFill>
              <a:srgbClr val="3A3A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214884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67676"/>
                </a:solidFill>
                <a:latin typeface="Calibri"/>
              </a:defRPr>
            </a:pPr>
            <a:r>
              <a:t>TRUSTPILOT RATING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2377440"/>
            <a:ext cx="2834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E3475E"/>
                </a:solidFill>
                <a:latin typeface="Calibri"/>
              </a:defRPr>
            </a:pPr>
            <a:r>
              <a:t>1.6 / 5.0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83464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767676"/>
                </a:solidFill>
                <a:latin typeface="Calibri"/>
              </a:defRPr>
            </a:pPr>
            <a:r>
              <a:t>Driven by warranty and support friction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0" y="2011680"/>
            <a:ext cx="3291840" cy="1371600"/>
          </a:xfrm>
          <a:prstGeom prst="roundRect">
            <a:avLst>
              <a:gd name="adj" fmla="val 4000"/>
            </a:avLst>
          </a:prstGeom>
          <a:solidFill>
            <a:srgbClr val="2A2A2C"/>
          </a:solidFill>
          <a:ln w="12700">
            <a:solidFill>
              <a:srgbClr val="3A3A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26280" y="214884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67676"/>
                </a:solidFill>
                <a:latin typeface="Calibri"/>
              </a:defRPr>
            </a:pPr>
            <a:r>
              <a:t>DEALER QUESTIONS AUTOMATABLE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26280" y="2377440"/>
            <a:ext cx="2834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Calibri"/>
              </a:defRPr>
            </a:pPr>
            <a:r>
              <a:t>~70%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6280" y="283464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767676"/>
                </a:solidFill>
                <a:latin typeface="Calibri"/>
              </a:defRPr>
            </a:pPr>
            <a:r>
              <a:t>Follow repeatable patterns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863840" y="2011680"/>
            <a:ext cx="3657600" cy="1371600"/>
          </a:xfrm>
          <a:prstGeom prst="roundRect">
            <a:avLst>
              <a:gd name="adj" fmla="val 4000"/>
            </a:avLst>
          </a:prstGeom>
          <a:solidFill>
            <a:srgbClr val="2A2A2C"/>
          </a:solidFill>
          <a:ln w="12700">
            <a:solidFill>
              <a:srgbClr val="3A3A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92440" y="2148840"/>
            <a:ext cx="3200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67676"/>
                </a:solidFill>
                <a:latin typeface="Calibri"/>
              </a:defRPr>
            </a:pPr>
            <a:r>
              <a:t>TOP COMPLAINTS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92440" y="2377440"/>
            <a:ext cx="3200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E3475E"/>
                </a:solidFill>
                <a:latin typeface="Calibri"/>
              </a:defRPr>
            </a:pPr>
            <a:r>
              <a:t>Firmware + Pairing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92440" y="2834640"/>
            <a:ext cx="3200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767676"/>
                </a:solidFill>
                <a:latin typeface="Calibri"/>
              </a:defRPr>
            </a:pPr>
            <a:r>
              <a:t>Reddit 2024-2025: shifting, updates, compatibility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1520" y="3749039"/>
            <a:ext cx="5029200" cy="2743200"/>
          </a:xfrm>
          <a:prstGeom prst="roundRect">
            <a:avLst>
              <a:gd name="adj" fmla="val 4000"/>
            </a:avLst>
          </a:prstGeom>
          <a:solidFill>
            <a:srgbClr val="2A2A2C"/>
          </a:solidFill>
          <a:ln w="12700">
            <a:solidFill>
              <a:srgbClr val="3A3A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05840" y="3886200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E3475E"/>
                </a:solidFill>
                <a:latin typeface="Calibri"/>
              </a:defRPr>
            </a:pPr>
            <a:r>
              <a:t>Customer Pain Signals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05840" y="4297680"/>
            <a:ext cx="43891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  <a:defRPr sz="1100" b="0">
                <a:solidFill>
                  <a:srgbClr val="D9DBD8"/>
                </a:solidFill>
                <a:latin typeface="Calibri"/>
              </a:defRPr>
            </a:pPr>
            <a:r>
              <a:t>•  Trustpilot: warranty frustration and support delays</a:t>
            </a:r>
          </a:p>
          <a:p>
            <a:pPr>
              <a:spcAft>
                <a:spcPts val="1100"/>
              </a:spcAft>
              <a:defRPr sz="1100" b="0">
                <a:solidFill>
                  <a:srgbClr val="D9DBD8"/>
                </a:solidFill>
                <a:latin typeface="Calibri"/>
              </a:defRPr>
            </a:pPr>
            <a:r>
              <a:t>•  Reddit: pairing issues, firmware failures, shifting anomalies</a:t>
            </a:r>
          </a:p>
          <a:p>
            <a:pPr>
              <a:spcAft>
                <a:spcPts val="1100"/>
              </a:spcAft>
              <a:defRPr sz="1100" b="0">
                <a:solidFill>
                  <a:srgbClr val="D9DBD8"/>
                </a:solidFill>
                <a:latin typeface="Calibri"/>
              </a:defRPr>
            </a:pPr>
            <a:r>
              <a:t>•  App stores: AXS and Hammerhead companion complaints</a:t>
            </a:r>
          </a:p>
          <a:p>
            <a:pPr>
              <a:spcAft>
                <a:spcPts val="1100"/>
              </a:spcAft>
              <a:defRPr sz="1100" b="0">
                <a:solidFill>
                  <a:srgbClr val="D9DBD8"/>
                </a:solidFill>
                <a:latin typeface="Calibri"/>
              </a:defRPr>
            </a:pPr>
            <a:r>
              <a:t>•  Riders explicitly stating intent to switch to Shimano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035040" y="3749039"/>
            <a:ext cx="5486400" cy="2743200"/>
          </a:xfrm>
          <a:prstGeom prst="roundRect">
            <a:avLst>
              <a:gd name="adj" fmla="val 4000"/>
            </a:avLst>
          </a:prstGeom>
          <a:solidFill>
            <a:srgbClr val="2A2A2C"/>
          </a:solidFill>
          <a:ln w="12700">
            <a:solidFill>
              <a:srgbClr val="3A3A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09360" y="388620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Calibri"/>
              </a:defRPr>
            </a:pPr>
            <a:r>
              <a:t>Why SRAM Has the Data to Fix This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09360" y="4297680"/>
            <a:ext cx="49377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  <a:defRPr sz="1100" b="0">
                <a:solidFill>
                  <a:srgbClr val="D9DBD8"/>
                </a:solidFill>
                <a:latin typeface="Calibri"/>
              </a:defRPr>
            </a:pPr>
            <a:r>
              <a:t>•  Structured knowledge base: manuals, compatibility guides, troubleshooting</a:t>
            </a:r>
          </a:p>
          <a:p>
            <a:pPr>
              <a:spcAft>
                <a:spcPts val="1100"/>
              </a:spcAft>
              <a:defRPr sz="1100" b="0">
                <a:solidFill>
                  <a:srgbClr val="D9DBD8"/>
                </a:solidFill>
                <a:latin typeface="Calibri"/>
              </a:defRPr>
            </a:pPr>
            <a:r>
              <a:t>•  AXS telemetry: firmware versions, error codes, device state</a:t>
            </a:r>
          </a:p>
          <a:p>
            <a:pPr>
              <a:spcAft>
                <a:spcPts val="1100"/>
              </a:spcAft>
              <a:defRPr sz="1100" b="0">
                <a:solidFill>
                  <a:srgbClr val="D9DBD8"/>
                </a:solidFill>
                <a:latin typeface="Calibri"/>
              </a:defRPr>
            </a:pPr>
            <a:r>
              <a:t>•  Hammerhead ride and device data</a:t>
            </a:r>
          </a:p>
          <a:p>
            <a:pPr>
              <a:spcAft>
                <a:spcPts val="1100"/>
              </a:spcAft>
              <a:defRPr sz="1100" b="0">
                <a:solidFill>
                  <a:srgbClr val="D9DBD8"/>
                </a:solidFill>
                <a:latin typeface="Calibri"/>
              </a:defRPr>
            </a:pPr>
            <a:r>
              <a:t>•  Compatibility rules already documented and maintained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1C1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5486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51937"/>
                </a:solidFill>
                <a:latin typeface="Calibri"/>
              </a:defRPr>
            </a:pPr>
            <a:r>
              <a:t>THE SOLUTION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90-Day Support Pilot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051560"/>
            <a:ext cx="914400" cy="25400"/>
          </a:xfrm>
          <a:prstGeom prst="rect">
            <a:avLst/>
          </a:prstGeom>
          <a:solidFill>
            <a:srgbClr val="E5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463040"/>
            <a:ext cx="2057400" cy="2011680"/>
          </a:xfrm>
          <a:prstGeom prst="roundRect">
            <a:avLst>
              <a:gd name="adj" fmla="val 4000"/>
            </a:avLst>
          </a:prstGeom>
          <a:solidFill>
            <a:srgbClr val="2A2A2C"/>
          </a:solidFill>
          <a:ln w="12700">
            <a:solidFill>
              <a:srgbClr val="3A3A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68680" y="1600200"/>
            <a:ext cx="320040" cy="320040"/>
          </a:xfrm>
          <a:prstGeom prst="ellipse">
            <a:avLst/>
          </a:prstGeom>
          <a:solidFill>
            <a:srgbClr val="E5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2011680"/>
            <a:ext cx="17830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E51937"/>
                </a:solidFill>
                <a:latin typeface="Calibri"/>
              </a:defRPr>
            </a:pPr>
            <a:r>
              <a:t>TICKET IN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286000"/>
            <a:ext cx="17830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D9DBD8"/>
                </a:solidFill>
                <a:latin typeface="Calibri"/>
              </a:defRPr>
            </a:pPr>
            <a:r>
              <a:t>Dealer or rider submits via Zendesk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971800" y="1463040"/>
            <a:ext cx="2057400" cy="2011680"/>
          </a:xfrm>
          <a:prstGeom prst="roundRect">
            <a:avLst>
              <a:gd name="adj" fmla="val 4000"/>
            </a:avLst>
          </a:prstGeom>
          <a:solidFill>
            <a:srgbClr val="2A2A2C"/>
          </a:solidFill>
          <a:ln w="12700">
            <a:solidFill>
              <a:srgbClr val="3A3A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3108960" y="1600200"/>
            <a:ext cx="320040" cy="320040"/>
          </a:xfrm>
          <a:prstGeom prst="ellipse">
            <a:avLst/>
          </a:prstGeom>
          <a:solidFill>
            <a:srgbClr val="E5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08960" y="2011680"/>
            <a:ext cx="17830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E51937"/>
                </a:solidFill>
                <a:latin typeface="Calibri"/>
              </a:defRPr>
            </a:pPr>
            <a:r>
              <a:t>AI RETRIEVES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08960" y="2286000"/>
            <a:ext cx="17830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D9DBD8"/>
                </a:solidFill>
                <a:latin typeface="Calibri"/>
              </a:defRPr>
            </a:pPr>
            <a:r>
              <a:t>Azure AI Search finds approved docs + AXS telemetry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212080" y="1463040"/>
            <a:ext cx="2057400" cy="2011680"/>
          </a:xfrm>
          <a:prstGeom prst="roundRect">
            <a:avLst>
              <a:gd name="adj" fmla="val 4000"/>
            </a:avLst>
          </a:prstGeom>
          <a:solidFill>
            <a:srgbClr val="2A2A2C"/>
          </a:solidFill>
          <a:ln w="12700">
            <a:solidFill>
              <a:srgbClr val="3A3A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5349240" y="1600200"/>
            <a:ext cx="320040" cy="320040"/>
          </a:xfrm>
          <a:prstGeom prst="ellipse">
            <a:avLst/>
          </a:prstGeom>
          <a:solidFill>
            <a:srgbClr val="E5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49240" y="2011680"/>
            <a:ext cx="17830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E51937"/>
                </a:solidFill>
                <a:latin typeface="Calibri"/>
              </a:defRPr>
            </a:pPr>
            <a:r>
              <a:t>AI DRAFTS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49240" y="2286000"/>
            <a:ext cx="17830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D9DBD8"/>
                </a:solidFill>
                <a:latin typeface="Calibri"/>
              </a:defRPr>
            </a:pPr>
            <a:r>
              <a:t>OpenAI generates response from knowledge base only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452360" y="1463040"/>
            <a:ext cx="2057400" cy="2011680"/>
          </a:xfrm>
          <a:prstGeom prst="roundRect">
            <a:avLst>
              <a:gd name="adj" fmla="val 4000"/>
            </a:avLst>
          </a:prstGeom>
          <a:solidFill>
            <a:srgbClr val="2A2A2C"/>
          </a:solidFill>
          <a:ln w="12700">
            <a:solidFill>
              <a:srgbClr val="3A3A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7589520" y="1600200"/>
            <a:ext cx="320040" cy="320040"/>
          </a:xfrm>
          <a:prstGeom prst="ellipse">
            <a:avLst/>
          </a:prstGeom>
          <a:solidFill>
            <a:srgbClr val="E5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589520" y="2011680"/>
            <a:ext cx="17830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E51937"/>
                </a:solidFill>
                <a:latin typeface="Calibri"/>
              </a:defRPr>
            </a:pPr>
            <a:r>
              <a:t>HUMAN REVIEWS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589520" y="2286000"/>
            <a:ext cx="17830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D9DBD8"/>
                </a:solidFill>
                <a:latin typeface="Calibri"/>
              </a:defRPr>
            </a:pPr>
            <a:r>
              <a:t>Agent approves before sending (100% in pilot)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692640" y="1463040"/>
            <a:ext cx="2057400" cy="2011680"/>
          </a:xfrm>
          <a:prstGeom prst="roundRect">
            <a:avLst>
              <a:gd name="adj" fmla="val 4000"/>
            </a:avLst>
          </a:prstGeom>
          <a:solidFill>
            <a:srgbClr val="2A2A2C"/>
          </a:solidFill>
          <a:ln w="12700">
            <a:solidFill>
              <a:srgbClr val="3A3A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829800" y="1600200"/>
            <a:ext cx="320040" cy="320040"/>
          </a:xfrm>
          <a:prstGeom prst="ellipse">
            <a:avLst/>
          </a:prstGeom>
          <a:solidFill>
            <a:srgbClr val="E5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829800" y="2011680"/>
            <a:ext cx="17830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E51937"/>
                </a:solidFill>
                <a:latin typeface="Calibri"/>
              </a:defRPr>
            </a:pPr>
            <a:r>
              <a:t>QUALITY LOGGED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829800" y="2286000"/>
            <a:ext cx="17830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D9DBD8"/>
                </a:solidFill>
                <a:latin typeface="Calibri"/>
              </a:defRPr>
            </a:pPr>
            <a:r>
              <a:t>Metrics tracked; weekly review with rollback trigger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31520" y="3794760"/>
            <a:ext cx="5303520" cy="2743200"/>
          </a:xfrm>
          <a:prstGeom prst="roundRect">
            <a:avLst>
              <a:gd name="adj" fmla="val 4000"/>
            </a:avLst>
          </a:prstGeom>
          <a:solidFill>
            <a:srgbClr val="2A2A2C"/>
          </a:solidFill>
          <a:ln w="12700">
            <a:solidFill>
              <a:srgbClr val="3A3A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05840" y="393192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Calibri"/>
              </a:defRPr>
            </a:pPr>
            <a:r>
              <a:t>Pilot Scope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05840" y="4297680"/>
            <a:ext cx="475488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  <a:defRPr sz="1100" b="0">
                <a:solidFill>
                  <a:srgbClr val="D9DBD8"/>
                </a:solidFill>
                <a:latin typeface="Calibri"/>
              </a:defRPr>
            </a:pPr>
            <a:r>
              <a:t>•  AXS drivetrain + Hammerhead device support only</a:t>
            </a:r>
          </a:p>
          <a:p>
            <a:pPr>
              <a:spcAft>
                <a:spcPts val="1100"/>
              </a:spcAft>
              <a:defRPr sz="1100" b="0">
                <a:solidFill>
                  <a:srgbClr val="D9DBD8"/>
                </a:solidFill>
                <a:latin typeface="Calibri"/>
              </a:defRPr>
            </a:pPr>
            <a:r>
              <a:t>•  Dealer inbox and high-volume web forms</a:t>
            </a:r>
          </a:p>
          <a:p>
            <a:pPr>
              <a:spcAft>
                <a:spcPts val="1100"/>
              </a:spcAft>
              <a:defRPr sz="1100" b="0">
                <a:solidFill>
                  <a:srgbClr val="D9DBD8"/>
                </a:solidFill>
                <a:latin typeface="Calibri"/>
              </a:defRPr>
            </a:pPr>
            <a:r>
              <a:t>•  Compatibility and firmware issues first</a:t>
            </a:r>
          </a:p>
          <a:p>
            <a:pPr>
              <a:spcAft>
                <a:spcPts val="1100"/>
              </a:spcAft>
              <a:defRPr sz="1100" b="0">
                <a:solidFill>
                  <a:srgbClr val="D9DBD8"/>
                </a:solidFill>
                <a:latin typeface="Calibri"/>
              </a:defRPr>
            </a:pPr>
            <a:r>
              <a:t>•  Human approval on all customer-facing responses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263640" y="3794760"/>
            <a:ext cx="5303520" cy="2743200"/>
          </a:xfrm>
          <a:prstGeom prst="roundRect">
            <a:avLst>
              <a:gd name="adj" fmla="val 4000"/>
            </a:avLst>
          </a:prstGeom>
          <a:solidFill>
            <a:srgbClr val="2A2A2C"/>
          </a:solidFill>
          <a:ln w="12700">
            <a:solidFill>
              <a:srgbClr val="3A3A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37960" y="393192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Calibri"/>
              </a:defRPr>
            </a:pPr>
            <a:r>
              <a:t>Risk Controls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37960" y="4297680"/>
            <a:ext cx="475488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  <a:defRPr sz="1100" b="0">
                <a:solidFill>
                  <a:srgbClr val="D9DBD8"/>
                </a:solidFill>
                <a:latin typeface="Calibri"/>
              </a:defRPr>
            </a:pPr>
            <a:r>
              <a:t>•  Human approval for warranty and safety decisions</a:t>
            </a:r>
          </a:p>
          <a:p>
            <a:pPr>
              <a:spcAft>
                <a:spcPts val="1100"/>
              </a:spcAft>
              <a:defRPr sz="1100" b="0">
                <a:solidFill>
                  <a:srgbClr val="D9DBD8"/>
                </a:solidFill>
                <a:latin typeface="Calibri"/>
              </a:defRPr>
            </a:pPr>
            <a:r>
              <a:t>•  Answers sourced from approved docs only</a:t>
            </a:r>
          </a:p>
          <a:p>
            <a:pPr>
              <a:spcAft>
                <a:spcPts val="1100"/>
              </a:spcAft>
              <a:defRPr sz="1100" b="0">
                <a:solidFill>
                  <a:srgbClr val="D9DBD8"/>
                </a:solidFill>
                <a:latin typeface="Calibri"/>
              </a:defRPr>
            </a:pPr>
            <a:r>
              <a:t>•  Weekly quality review with rollback trigger</a:t>
            </a:r>
          </a:p>
          <a:p>
            <a:pPr>
              <a:spcAft>
                <a:spcPts val="1100"/>
              </a:spcAft>
              <a:defRPr sz="1100" b="0">
                <a:solidFill>
                  <a:srgbClr val="D9DBD8"/>
                </a:solidFill>
                <a:latin typeface="Calibri"/>
              </a:defRPr>
            </a:pPr>
            <a:r>
              <a:t>•  No automated warranty adjudication in Phase 1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1C1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5486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51937"/>
                </a:solidFill>
                <a:latin typeface="Calibri"/>
              </a:defRPr>
            </a:pPr>
            <a:r>
              <a:t>MEASURING SUCCESS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Pilot Metrics and Year-1 Financial Impact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051560"/>
            <a:ext cx="914400" cy="25400"/>
          </a:xfrm>
          <a:prstGeom prst="rect">
            <a:avLst/>
          </a:prstGeom>
          <a:solidFill>
            <a:srgbClr val="E5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Calibri"/>
              </a:defRPr>
            </a:pPr>
            <a:r>
              <a:t>90-Day Pilot Targets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828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D9DBD8"/>
                </a:solidFill>
                <a:latin typeface="Calibri"/>
              </a:defRPr>
            </a:pPr>
            <a:r>
              <a:t>Time-to-first-response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0" y="182880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E51937"/>
                </a:solidFill>
                <a:latin typeface="Calibri"/>
              </a:defRPr>
            </a:pPr>
            <a:r>
              <a:t>40% reduction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24028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D9DBD8"/>
                </a:solidFill>
                <a:latin typeface="Calibri"/>
              </a:defRPr>
            </a:pPr>
            <a:r>
              <a:t>Tickets without escalation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224028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E51937"/>
                </a:solidFill>
                <a:latin typeface="Calibri"/>
              </a:defRPr>
            </a:pPr>
            <a:r>
              <a:t>15% improvement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265176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D9DBD8"/>
                </a:solidFill>
                <a:latin typeface="Calibri"/>
              </a:defRPr>
            </a:pPr>
            <a:r>
              <a:t>Agent productivity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265176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E51937"/>
                </a:solidFill>
                <a:latin typeface="Calibri"/>
              </a:defRPr>
            </a:pPr>
            <a:r>
              <a:t>25% increase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306324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D9DBD8"/>
                </a:solidFill>
                <a:latin typeface="Calibri"/>
              </a:defRPr>
            </a:pPr>
            <a:r>
              <a:t>AI draft acceptance rate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0" y="306324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E51937"/>
                </a:solidFill>
                <a:latin typeface="Calibri"/>
              </a:defRPr>
            </a:pPr>
            <a:r>
              <a:t>Above 70%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347472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D9DBD8"/>
                </a:solidFill>
                <a:latin typeface="Calibri"/>
              </a:defRPr>
            </a:pPr>
            <a:r>
              <a:t>Customer satisfaction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0" y="347472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E51937"/>
                </a:solidFill>
                <a:latin typeface="Calibri"/>
              </a:defRPr>
            </a:pPr>
            <a:r>
              <a:t>No decline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0" y="137160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Calibri"/>
              </a:defRPr>
            </a:pPr>
            <a:r>
              <a:t>Year-1 Financial Impact (All Phases)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858000" y="1828800"/>
            <a:ext cx="2286000" cy="1188720"/>
          </a:xfrm>
          <a:prstGeom prst="roundRect">
            <a:avLst>
              <a:gd name="adj" fmla="val 4000"/>
            </a:avLst>
          </a:prstGeom>
          <a:solidFill>
            <a:srgbClr val="2A2A2C"/>
          </a:solidFill>
          <a:ln w="12700">
            <a:solidFill>
              <a:srgbClr val="3A3A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086600" y="1965960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67676"/>
                </a:solidFill>
                <a:latin typeface="Calibri"/>
              </a:defRPr>
            </a:pPr>
            <a:r>
              <a:t>NET YEAR-1 VALUE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86600" y="2194560"/>
            <a:ext cx="1828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E51937"/>
                </a:solidFill>
                <a:latin typeface="Calibri"/>
              </a:defRPr>
            </a:pPr>
            <a:r>
              <a:t>$10.2M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86600" y="2651760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767676"/>
                </a:solidFill>
                <a:latin typeface="Calibri"/>
              </a:defRPr>
            </a:pPr>
            <a:r>
              <a:t>Expected case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326880" y="1828800"/>
            <a:ext cx="2286000" cy="1188720"/>
          </a:xfrm>
          <a:prstGeom prst="roundRect">
            <a:avLst>
              <a:gd name="adj" fmla="val 4000"/>
            </a:avLst>
          </a:prstGeom>
          <a:solidFill>
            <a:srgbClr val="2A2A2C"/>
          </a:solidFill>
          <a:ln w="12700">
            <a:solidFill>
              <a:srgbClr val="3A3A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555480" y="1965960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67676"/>
                </a:solidFill>
                <a:latin typeface="Calibri"/>
              </a:defRPr>
            </a:pPr>
            <a:r>
              <a:t>RETURN ON SPEND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555480" y="2194560"/>
            <a:ext cx="1828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E51937"/>
                </a:solidFill>
                <a:latin typeface="Calibri"/>
              </a:defRPr>
            </a:pPr>
            <a:r>
              <a:t>3.8x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555480" y="2651760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767676"/>
                </a:solidFill>
                <a:latin typeface="Calibri"/>
              </a:defRPr>
            </a:pPr>
            <a:r>
              <a:t>On $2.7M total spend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58000" y="3200400"/>
            <a:ext cx="45720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50"/>
              </a:spcAft>
              <a:defRPr sz="1300" b="1">
                <a:solidFill>
                  <a:srgbClr val="FFFFFF"/>
                </a:solidFill>
                <a:latin typeface="Calibri"/>
              </a:defRPr>
            </a:pPr>
            <a:r>
              <a:t>Cost Reductions</a:t>
            </a:r>
          </a:p>
          <a:p>
            <a:pPr>
              <a:spcAft>
                <a:spcPts val="550"/>
              </a:spcAft>
              <a:defRPr sz="1100" b="0">
                <a:solidFill>
                  <a:srgbClr val="D9DBD8"/>
                </a:solidFill>
                <a:latin typeface="Calibri"/>
              </a:defRPr>
            </a:pPr>
            <a:r>
              <a:t>Support automation: $1.6M</a:t>
            </a:r>
          </a:p>
          <a:p>
            <a:pPr>
              <a:spcAft>
                <a:spcPts val="550"/>
              </a:spcAft>
              <a:defRPr sz="1100" b="0">
                <a:solidFill>
                  <a:srgbClr val="D9DBD8"/>
                </a:solidFill>
                <a:latin typeface="Calibri"/>
              </a:defRPr>
            </a:pPr>
            <a:r>
              <a:t>Demand forecasting: $1.6M</a:t>
            </a:r>
          </a:p>
          <a:p>
            <a:pPr>
              <a:spcAft>
                <a:spcPts val="550"/>
              </a:spcAft>
              <a:defRPr sz="1100" b="0">
                <a:solidFill>
                  <a:srgbClr val="D9DBD8"/>
                </a:solidFill>
                <a:latin typeface="Calibri"/>
              </a:defRPr>
            </a:pPr>
            <a:r>
              <a:t>Documentation: $0.24M</a:t>
            </a:r>
          </a:p>
          <a:p>
            <a:pPr>
              <a:spcAft>
                <a:spcPts val="300"/>
              </a:spcAft>
              <a:defRPr sz="600" b="0">
                <a:solidFill>
                  <a:srgbClr val="767676"/>
                </a:solidFill>
                <a:latin typeface="Calibri"/>
              </a:defRPr>
            </a:pPr>
          </a:p>
          <a:p>
            <a:pPr>
              <a:spcAft>
                <a:spcPts val="650"/>
              </a:spcAft>
              <a:defRPr sz="1300" b="1">
                <a:solidFill>
                  <a:srgbClr val="FFFFFF"/>
                </a:solidFill>
                <a:latin typeface="Calibri"/>
              </a:defRPr>
            </a:pPr>
            <a:r>
              <a:t>Revenue Growth</a:t>
            </a:r>
          </a:p>
          <a:p>
            <a:pPr>
              <a:spcAft>
                <a:spcPts val="550"/>
              </a:spcAft>
              <a:defRPr sz="1100" b="0">
                <a:solidFill>
                  <a:srgbClr val="D9DBD8"/>
                </a:solidFill>
                <a:latin typeface="Calibri"/>
              </a:defRPr>
            </a:pPr>
            <a:r>
              <a:t>Customer retention: $3.0M</a:t>
            </a:r>
          </a:p>
          <a:p>
            <a:pPr>
              <a:spcAft>
                <a:spcPts val="550"/>
              </a:spcAft>
              <a:defRPr sz="1100" b="0">
                <a:solidFill>
                  <a:srgbClr val="D9DBD8"/>
                </a:solidFill>
                <a:latin typeface="Calibri"/>
              </a:defRPr>
            </a:pPr>
            <a:r>
              <a:t>Package size increase: $4.0M</a:t>
            </a:r>
          </a:p>
          <a:p>
            <a:pPr>
              <a:spcAft>
                <a:spcPts val="550"/>
              </a:spcAft>
              <a:defRPr sz="1100" b="0">
                <a:solidFill>
                  <a:srgbClr val="D9DBD8"/>
                </a:solidFill>
                <a:latin typeface="Calibri"/>
              </a:defRPr>
            </a:pPr>
            <a:r>
              <a:t>Proposal win rate: $2.5M</a:t>
            </a:r>
          </a:p>
          <a:p>
            <a:pPr>
              <a:spcAft>
                <a:spcPts val="300"/>
              </a:spcAft>
              <a:defRPr sz="600" b="0">
                <a:solidFill>
                  <a:srgbClr val="767676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1200" b="1">
                <a:solidFill>
                  <a:srgbClr val="FFFFFF"/>
                </a:solidFill>
                <a:latin typeface="Calibri"/>
              </a:defRPr>
            </a:pPr>
            <a:r>
              <a:t>Gross value: $12.9M</a:t>
            </a:r>
          </a:p>
          <a:p>
            <a:pPr>
              <a:spcAft>
                <a:spcPts val="600"/>
              </a:spcAft>
              <a:defRPr sz="1200" b="0">
                <a:solidFill>
                  <a:srgbClr val="767676"/>
                </a:solidFill>
                <a:latin typeface="Calibri"/>
              </a:defRPr>
            </a:pPr>
            <a:r>
              <a:t>Total spend: ($2.7M)</a:t>
            </a:r>
          </a:p>
          <a:p>
            <a:pPr>
              <a:spcAft>
                <a:spcPts val="600"/>
              </a:spcAft>
              <a:defRPr sz="1200" b="1">
                <a:solidFill>
                  <a:srgbClr val="E51937"/>
                </a:solidFill>
                <a:latin typeface="Calibri"/>
              </a:defRPr>
            </a:pPr>
            <a:r>
              <a:t>Net value: $10.2M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1C1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5486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51937"/>
                </a:solidFill>
                <a:latin typeface="Calibri"/>
              </a:defRPr>
            </a:pPr>
            <a:r>
              <a:t>2031 VISION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From Hardware Manufacturer to Performance Intelligence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051560"/>
            <a:ext cx="914400" cy="25400"/>
          </a:xfrm>
          <a:prstGeom prst="rect">
            <a:avLst/>
          </a:prstGeom>
          <a:solidFill>
            <a:srgbClr val="E5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D9DBD8"/>
                </a:solidFill>
                <a:latin typeface="Calibri"/>
              </a:defRPr>
            </a:pPr>
            <a:r>
              <a:t>SRAM's full product stack creates a data moat no competitor can replicate. The rider with SRAM drivetrain, RockShox suspension, Quarq power, and Hammerhead computer gets a unified intelligence layer impossible with mixed components.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011680"/>
            <a:ext cx="5166360" cy="1691640"/>
          </a:xfrm>
          <a:prstGeom prst="roundRect">
            <a:avLst>
              <a:gd name="adj" fmla="val 4000"/>
            </a:avLst>
          </a:prstGeom>
          <a:solidFill>
            <a:srgbClr val="2A2A2C"/>
          </a:solidFill>
          <a:ln w="12700">
            <a:solidFill>
              <a:srgbClr val="3A3A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148840"/>
            <a:ext cx="4617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E51937"/>
                </a:solidFill>
                <a:latin typeface="Calibri"/>
              </a:defRPr>
            </a:pPr>
            <a:r>
              <a:t>AXS Intelligence Platform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514600"/>
            <a:ext cx="46177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D9DBD8"/>
                </a:solidFill>
                <a:latin typeface="Calibri"/>
              </a:defRPr>
            </a:pPr>
            <a:r>
              <a:t>Unified rider dashboard showing power, gearing, suspension, and heart rate in one view. No competitor has the product breadth to match this.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26480" y="2011680"/>
            <a:ext cx="5166360" cy="1691640"/>
          </a:xfrm>
          <a:prstGeom prst="roundRect">
            <a:avLst>
              <a:gd name="adj" fmla="val 4000"/>
            </a:avLst>
          </a:prstGeom>
          <a:solidFill>
            <a:srgbClr val="2A2A2C"/>
          </a:solidFill>
          <a:ln w="12700">
            <a:solidFill>
              <a:srgbClr val="3A3A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2148840"/>
            <a:ext cx="4617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E51937"/>
                </a:solidFill>
                <a:latin typeface="Calibri"/>
              </a:defRPr>
            </a:pPr>
            <a:r>
              <a:t>Predictive Maintenance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514600"/>
            <a:ext cx="46177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D9DBD8"/>
                </a:solidFill>
                <a:latin typeface="Calibri"/>
              </a:defRPr>
            </a:pPr>
            <a:r>
              <a:t>Connected components predict chain, cassette, and brake pad replacement before failure. Installed base becomes a recurring revenue platform.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3931920"/>
            <a:ext cx="5166360" cy="1691640"/>
          </a:xfrm>
          <a:prstGeom prst="roundRect">
            <a:avLst>
              <a:gd name="adj" fmla="val 4000"/>
            </a:avLst>
          </a:prstGeom>
          <a:solidFill>
            <a:srgbClr val="2A2A2C"/>
          </a:solidFill>
          <a:ln w="12700">
            <a:solidFill>
              <a:srgbClr val="3A3A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4069080"/>
            <a:ext cx="4617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E51937"/>
                </a:solidFill>
                <a:latin typeface="Calibri"/>
              </a:defRPr>
            </a:pPr>
            <a:r>
              <a:t>AI-Tuned Performance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4434840"/>
            <a:ext cx="46177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D9DBD8"/>
                </a:solidFill>
                <a:latin typeface="Calibri"/>
              </a:defRPr>
            </a:pPr>
            <a:r>
              <a:t>Suspension auto-adjusts to terrain. Shifting optimizes for rider power patterns. Products improve continuously after purchase.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26480" y="3931920"/>
            <a:ext cx="5166360" cy="1691640"/>
          </a:xfrm>
          <a:prstGeom prst="roundRect">
            <a:avLst>
              <a:gd name="adj" fmla="val 4000"/>
            </a:avLst>
          </a:prstGeom>
          <a:solidFill>
            <a:srgbClr val="2A2A2C"/>
          </a:solidFill>
          <a:ln w="12700">
            <a:solidFill>
              <a:srgbClr val="3A3A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0" y="4069080"/>
            <a:ext cx="4617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E51937"/>
                </a:solidFill>
                <a:latin typeface="Calibri"/>
              </a:defRPr>
            </a:pPr>
            <a:r>
              <a:t>Dealer Intelligence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4434840"/>
            <a:ext cx="46177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D9DBD8"/>
                </a:solidFill>
                <a:latin typeface="Calibri"/>
              </a:defRPr>
            </a:pPr>
            <a:r>
              <a:t>Aggregated telemetry tells dealers which parts approach end-of-life in their service area. Proactive ordering replaces reactive.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1520" y="5943600"/>
            <a:ext cx="10698480" cy="411480"/>
          </a:xfrm>
          <a:prstGeom prst="roundRect">
            <a:avLst>
              <a:gd name="adj" fmla="val 10000"/>
            </a:avLst>
          </a:prstGeom>
          <a:solidFill>
            <a:srgbClr val="2A2A2C"/>
          </a:solidFill>
          <a:ln w="12700">
            <a:solidFill>
              <a:srgbClr val="E519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97280" y="598932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E51937"/>
                </a:solidFill>
                <a:latin typeface="Calibri"/>
              </a:defRPr>
            </a:pPr>
            <a:r>
              <a:t>Hardware sells data access  →  Data improves performance  →  Performance sells hardware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1C1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5486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51937"/>
                </a:solidFill>
                <a:latin typeface="Calibri"/>
              </a:defRPr>
            </a:pPr>
            <a:r>
              <a:t>THE DECISION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Three Actions for SRAM's CEO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051560"/>
            <a:ext cx="914400" cy="25400"/>
          </a:xfrm>
          <a:prstGeom prst="rect">
            <a:avLst/>
          </a:prstGeom>
          <a:solidFill>
            <a:srgbClr val="E5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371600"/>
            <a:ext cx="10515600" cy="1234440"/>
          </a:xfrm>
          <a:prstGeom prst="roundRect">
            <a:avLst>
              <a:gd name="adj" fmla="val 4000"/>
            </a:avLst>
          </a:prstGeom>
          <a:solidFill>
            <a:srgbClr val="2A2A2C"/>
          </a:solidFill>
          <a:ln w="12700">
            <a:solidFill>
              <a:srgbClr val="3A3A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97280" y="1627632"/>
            <a:ext cx="457200" cy="457200"/>
          </a:xfrm>
          <a:prstGeom prst="ellipse">
            <a:avLst/>
          </a:prstGeom>
          <a:solidFill>
            <a:srgbClr val="E5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0" y="1481328"/>
            <a:ext cx="8961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Calibri"/>
              </a:defRPr>
            </a:pPr>
            <a:r>
              <a:t>Launch the 90-Day Support Pilot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1874520"/>
            <a:ext cx="89611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D9DBD8"/>
                </a:solidFill>
                <a:latin typeface="Calibri"/>
              </a:defRPr>
            </a:pPr>
            <a:r>
              <a:t>Scope it to AXS and Hammerhead dealer support. One product owner, one integration engineer. Human approval on all outputs. Weekly quality reviews.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2834640"/>
            <a:ext cx="10515600" cy="1234440"/>
          </a:xfrm>
          <a:prstGeom prst="roundRect">
            <a:avLst>
              <a:gd name="adj" fmla="val 4000"/>
            </a:avLst>
          </a:prstGeom>
          <a:solidFill>
            <a:srgbClr val="2A2A2C"/>
          </a:solidFill>
          <a:ln w="12700">
            <a:solidFill>
              <a:srgbClr val="3A3A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097280" y="3090672"/>
            <a:ext cx="457200" cy="457200"/>
          </a:xfrm>
          <a:prstGeom prst="ellipse">
            <a:avLst/>
          </a:prstGeom>
          <a:solidFill>
            <a:srgbClr val="E5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28800" y="2944368"/>
            <a:ext cx="8961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Calibri"/>
              </a:defRPr>
            </a:pPr>
            <a:r>
              <a:t>Begin Data Infrastructure Planning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28800" y="3337560"/>
            <a:ext cx="89611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D9DBD8"/>
                </a:solidFill>
                <a:latin typeface="Calibri"/>
              </a:defRPr>
            </a:pPr>
            <a:r>
              <a:t>Initiate requirements for a unified data layer connecting Shopify, support systems, and telemetry data. This is the foundation for forecasting and AXS Intelligence.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4297680"/>
            <a:ext cx="10515600" cy="1234440"/>
          </a:xfrm>
          <a:prstGeom prst="roundRect">
            <a:avLst>
              <a:gd name="adj" fmla="val 4000"/>
            </a:avLst>
          </a:prstGeom>
          <a:solidFill>
            <a:srgbClr val="2A2A2C"/>
          </a:solidFill>
          <a:ln w="12700">
            <a:solidFill>
              <a:srgbClr val="3A3A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97280" y="4553712"/>
            <a:ext cx="457200" cy="457200"/>
          </a:xfrm>
          <a:prstGeom prst="ellipse">
            <a:avLst/>
          </a:prstGeom>
          <a:solidFill>
            <a:srgbClr val="E5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28800" y="4407408"/>
            <a:ext cx="8961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Calibri"/>
              </a:defRPr>
            </a:pPr>
            <a:r>
              <a:t>Hold Sequencing Discipline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28800" y="4800600"/>
            <a:ext cx="89611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D9DBD8"/>
                </a:solidFill>
                <a:latin typeface="Calibri"/>
              </a:defRPr>
            </a:pPr>
            <a:r>
              <a:t>Bounded, well-defined problems first. Broader transformation after measured proof. The 90-day pilot produces data to justify or redirect every subsequent investment.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5897880"/>
            <a:ext cx="10515600" cy="365760"/>
          </a:xfrm>
          <a:prstGeom prst="roundRect">
            <a:avLst>
              <a:gd name="adj" fmla="val 10000"/>
            </a:avLst>
          </a:prstGeom>
          <a:solidFill>
            <a:srgbClr val="2A2A2C"/>
          </a:solidFill>
          <a:ln w="12700">
            <a:solidFill>
              <a:srgbClr val="E519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97280" y="5925312"/>
            <a:ext cx="9875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E51937"/>
                </a:solidFill>
                <a:latin typeface="Calibri"/>
              </a:defRPr>
            </a:pPr>
            <a:r>
              <a:t>Expected Year-1 return: 3.8x  |  Downside bounded by 90-day pilot  |  Upside scales with SRAM's unique data advantage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